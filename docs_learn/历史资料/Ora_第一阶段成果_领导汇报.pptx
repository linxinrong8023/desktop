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876300"/>
            <a:ext cx="1200150" cy="120015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2247900" y="10668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</a:t>
            </a:r>
            <a:endParaRPr sz="27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381250"/>
            <a:ext cx="752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9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 AI Agent 的 IDE</a:t>
            </a:r>
            <a:endParaRPr sz="49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56235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Agent 从孤岛工具，升级为企业可编排的生产力平台</a:t>
            </a:r>
            <a:endParaRPr sz="210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44767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书同文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981200" y="44767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车同轨</a:t>
            </a:r>
            <a:endParaRPr sz="112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181350" y="4476750"/>
            <a:ext cx="1504950" cy="285750"/>
          </a:xfrm>
          <a:prstGeom prst="roundRect">
            <a:avLst>
              <a:gd name="adj" fmla="val 50000"/>
            </a:avLst>
          </a:prstGeom>
          <a:solidFill>
            <a:srgbClr val="E8F9FB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万物皆可插件</a:t>
            </a:r>
            <a:endParaRPr sz="112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61150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先行｜Web + Desktop 同源｜Rust 内核｜TypeScript 插件生态</a:t>
            </a:r>
            <a:endParaRPr sz="12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220200" y="1428750"/>
            <a:ext cx="2381250" cy="0"/>
          </a:xfrm>
          <a:prstGeom prst="line">
            <a:avLst/>
          </a:prstGeom>
          <a:noFill/>
          <a:ln w="76200">
            <a:solidFill>
              <a:srgbClr val="64748B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9296400" y="1181100"/>
            <a:ext cx="1581150" cy="476250"/>
          </a:xfrm>
          <a:prstGeom prst="roundRect">
            <a:avLst>
              <a:gd name="adj" fmla="val 24000"/>
            </a:avLst>
          </a:prstGeom>
          <a:solidFill>
            <a:srgbClr val="2B405A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1144250" y="1314450"/>
            <a:ext cx="228600" cy="228600"/>
          </a:xfrm>
          <a:prstGeom prst="ellipse">
            <a:avLst/>
          </a:prstGeom>
          <a:solidFill>
            <a:srgbClr val="22BFD3"/>
          </a:solidFill>
          <a:ln w="0">
            <a:noFill/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9220200" y="2857500"/>
            <a:ext cx="2381250" cy="0"/>
          </a:xfrm>
          <a:prstGeom prst="line">
            <a:avLst/>
          </a:prstGeom>
          <a:noFill/>
          <a:ln w="76200">
            <a:solidFill>
              <a:srgbClr val="C7000B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9296400" y="2609850"/>
            <a:ext cx="1581150" cy="476250"/>
          </a:xfrm>
          <a:prstGeom prst="roundRect">
            <a:avLst>
              <a:gd name="adj" fmla="val 24000"/>
            </a:avLst>
          </a:prstGeom>
          <a:solidFill>
            <a:srgbClr val="C7000B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144250" y="2743200"/>
            <a:ext cx="228600" cy="2286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9220200" y="4286250"/>
            <a:ext cx="2381250" cy="0"/>
          </a:xfrm>
          <a:prstGeom prst="line">
            <a:avLst/>
          </a:prstGeom>
          <a:noFill/>
          <a:ln w="76200">
            <a:solidFill>
              <a:srgbClr val="64748B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9296400" y="4038600"/>
            <a:ext cx="1581150" cy="476250"/>
          </a:xfrm>
          <a:prstGeom prst="roundRect">
            <a:avLst>
              <a:gd name="adj" fmla="val 24000"/>
            </a:avLst>
          </a:prstGeom>
          <a:solidFill>
            <a:srgbClr val="2B405A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OpenCode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1144250" y="4171950"/>
            <a:ext cx="228600" cy="228600"/>
          </a:xfrm>
          <a:prstGeom prst="ellipse">
            <a:avLst/>
          </a:prstGeom>
          <a:solidFill>
            <a:srgbClr val="22BFD3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239250" y="552450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三条执行车道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汇入一个任务平台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结论先行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我们要解决的，不是“缺一个更强的 Agent”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240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真正短缺的是统一入口、统一上下文和统一交付链路。</a:t>
            </a:r>
            <a:endParaRPr sz="23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704850" y="24574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381250"/>
            <a:ext cx="598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可替换，任务、记忆、流程和产物留在平台中</a:t>
            </a:r>
            <a:endParaRPr sz="17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3143250"/>
            <a:ext cx="598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提升的是端到端研发吞吐，而不是一次对话的效果</a:t>
            </a:r>
            <a:endParaRPr sz="17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704850" y="39814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905250"/>
            <a:ext cx="598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第一阶段已形成工程骨架，下一步用真实闭环验证价值</a:t>
            </a:r>
            <a:endParaRPr sz="17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334250" y="1600200"/>
            <a:ext cx="4095750" cy="3276600"/>
          </a:xfrm>
          <a:prstGeom prst="roundRect">
            <a:avLst>
              <a:gd name="adj" fmla="val 523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34300" y="19431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建议验证范围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810500" y="2571750"/>
            <a:ext cx="1428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 fontScale="92277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类 Agent</a:t>
            </a:r>
            <a:endParaRPr sz="21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429750" y="2571750"/>
            <a:ext cx="1619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条华为</a:t>
            </a:r>
            <a:endParaRPr sz="187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8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上库流程</a:t>
            </a:r>
            <a:endParaRPr sz="187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620125" y="3638550"/>
            <a:ext cx="1619250" cy="857250"/>
          </a:xfrm>
          <a:prstGeom prst="roundRect">
            <a:avLst>
              <a:gd name="adj" fmla="val 13333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1–2 个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试点团队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38200" y="5219700"/>
            <a:ext cx="10363200" cy="0"/>
          </a:xfrm>
          <a:prstGeom prst="line">
            <a:avLst/>
          </a:prstGeom>
          <a:noFill/>
          <a:ln w="28575">
            <a:solidFill>
              <a:srgbClr val="C7000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53911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从工具能力，走向组织产能</a:t>
            </a:r>
            <a:endParaRPr sz="27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为什么必须做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能力越强，协同摩擦反而越暴露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762500" y="276225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开发连续性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被打断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7250" y="1733550"/>
            <a:ext cx="3048000" cy="1009650"/>
          </a:xfrm>
          <a:prstGeom prst="roundRect">
            <a:avLst>
              <a:gd name="adj" fmla="val 11321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孤岛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入口·配置·记忆异构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286750" y="1733550"/>
            <a:ext cx="3048000" cy="1009650"/>
          </a:xfrm>
          <a:prstGeom prst="roundRect">
            <a:avLst>
              <a:gd name="adj" fmla="val 11321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流程鸿沟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不理解企业研发门禁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57250" y="4286250"/>
            <a:ext cx="3048000" cy="1009650"/>
          </a:xfrm>
          <a:prstGeom prst="roundRect">
            <a:avLst>
              <a:gd name="adj" fmla="val 11321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资产散乱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/ MCP 难复用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286750" y="4286250"/>
            <a:ext cx="3048000" cy="1009650"/>
          </a:xfrm>
          <a:prstGeom prst="roundRect">
            <a:avLst>
              <a:gd name="adj" fmla="val 11321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并行受限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 + 单工作区拥堵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肘形连接符 27"/>
          <p:cNvCxnSpPr>
            <a:stCxn id="8" idx="3"/>
            <a:endCxn id="7" idx="1"/>
          </p:cNvCxnSpPr>
          <p:nvPr/>
        </p:nvCxnSpPr>
        <p:spPr>
          <a:xfrm>
            <a:off x="3905250" y="2238375"/>
            <a:ext cx="857250" cy="1143000"/>
          </a:xfrm>
          <a:prstGeom prst="bentConnector3">
            <a:avLst>
              <a:gd name="adj1" fmla="val 50000"/>
            </a:avLst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9" idx="1"/>
            <a:endCxn id="7" idx="3"/>
          </p:cNvCxnSpPr>
          <p:nvPr/>
        </p:nvCxnSpPr>
        <p:spPr>
          <a:xfrm flipH="1">
            <a:off x="7429500" y="2238375"/>
            <a:ext cx="857250" cy="1143000"/>
          </a:xfrm>
          <a:prstGeom prst="bentConnector3">
            <a:avLst>
              <a:gd name="adj1" fmla="val 50000"/>
            </a:avLst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10" idx="3"/>
            <a:endCxn id="7" idx="1"/>
          </p:cNvCxnSpPr>
          <p:nvPr/>
        </p:nvCxnSpPr>
        <p:spPr>
          <a:xfrm flipV="1">
            <a:off x="3905250" y="3381375"/>
            <a:ext cx="857250" cy="1409700"/>
          </a:xfrm>
          <a:prstGeom prst="bentConnector3">
            <a:avLst>
              <a:gd name="adj1" fmla="val 50000"/>
            </a:avLst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11" idx="1"/>
            <a:endCxn id="7" idx="3"/>
          </p:cNvCxnSpPr>
          <p:nvPr/>
        </p:nvCxnSpPr>
        <p:spPr>
          <a:xfrm flipH="1" flipV="1">
            <a:off x="7429500" y="3381375"/>
            <a:ext cx="857250" cy="1409700"/>
          </a:xfrm>
          <a:prstGeom prst="bentConnector3">
            <a:avLst>
              <a:gd name="adj1" fmla="val 50000"/>
            </a:avLst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2286000" y="561975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能力在增长，协同成本也在增长。</a:t>
            </a:r>
            <a:endParaRPr sz="22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孤岛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越多，开发链路越容易被切碎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905000"/>
            <a:ext cx="2286000" cy="200025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9525">
            <a:solidFill>
              <a:srgbClr val="35485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14312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 Claude Code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714625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独立安装 / 配置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独立会话 / 权限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独立上下文表达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09900" y="2647950"/>
            <a:ext cx="323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粘贴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33750" y="1905000"/>
            <a:ext cx="2286000" cy="200025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9525">
            <a:solidFill>
              <a:srgbClr val="35485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43300" y="214312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 Codex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43300" y="2714625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独立安装 / 配置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独立会话 / 权限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独立上下文表达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657850" y="2647950"/>
            <a:ext cx="323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粘贴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981700" y="1905000"/>
            <a:ext cx="2286000" cy="200025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9525">
            <a:solidFill>
              <a:srgbClr val="35485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191250" y="214312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 OpenCode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91250" y="2714625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独立安装 / 配置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独立会话 / 权限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独立上下文表达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905875" y="1790700"/>
            <a:ext cx="2571750" cy="2238375"/>
          </a:xfrm>
          <a:prstGeom prst="roundRect">
            <a:avLst>
              <a:gd name="adj" fmla="val 7660"/>
            </a:avLst>
          </a:prstGeom>
          <a:solidFill>
            <a:srgbClr val="FCEBEC"/>
          </a:solidFill>
          <a:ln w="9525">
            <a:solidFill>
              <a:srgbClr val="F0BCC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58300" y="21145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开发者被迫成为</a:t>
            </a:r>
            <a:endParaRPr sz="150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20200" y="2571750"/>
            <a:ext cx="1924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消息总线</a:t>
            </a:r>
            <a:endParaRPr sz="25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01250" y="31051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49"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1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24950" y="3476625"/>
            <a:ext cx="2114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文件搬运工</a:t>
            </a:r>
            <a:endParaRPr sz="21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857250" y="45529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4476750"/>
            <a:ext cx="10077450" cy="452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切换时重新解释需求、决策背景与失败日志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57250" y="5100638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66800" y="5024438"/>
            <a:ext cx="10077450" cy="452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共用目录容易覆盖；完全隔离又难共享产物</a:t>
            </a:r>
            <a:endParaRPr sz="16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4875" y="57626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 Agent 不够聪明，而是它们生活在彼此隔绝的世界。</a:t>
            </a:r>
            <a:endParaRPr sz="20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企业流程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企业系统越丰富，Agent 越难真正交付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2762250"/>
            <a:ext cx="1714500" cy="1123950"/>
          </a:xfrm>
          <a:prstGeom prst="roundRect">
            <a:avLst>
              <a:gd name="adj" fmla="val 10169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输出代码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048000" y="2428875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endParaRPr sz="14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sz="14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200525" y="2952750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353050" y="2428875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505575" y="2952750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水线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658100" y="2428875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810625" y="2952750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963150" y="2428875"/>
            <a:ext cx="914400" cy="152400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</a:t>
            </a:r>
            <a:endParaRPr sz="14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肘形连接符 38"/>
          <p:cNvCxnSpPr>
            <a:stCxn id="7" idx="3"/>
            <a:endCxn id="8" idx="1"/>
          </p:cNvCxnSpPr>
          <p:nvPr/>
        </p:nvCxnSpPr>
        <p:spPr>
          <a:xfrm flipV="1">
            <a:off x="2400300" y="3190875"/>
            <a:ext cx="647700" cy="133350"/>
          </a:xfrm>
          <a:prstGeom prst="bentConnector3">
            <a:avLst>
              <a:gd name="adj1" fmla="val 50000"/>
            </a:avLst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40" name="肘形连接符 39"/>
          <p:cNvCxnSpPr>
            <a:stCxn id="8" idx="3"/>
            <a:endCxn id="9" idx="1"/>
          </p:cNvCxnSpPr>
          <p:nvPr/>
        </p:nvCxnSpPr>
        <p:spPr>
          <a:xfrm>
            <a:off x="3962400" y="3190875"/>
            <a:ext cx="238125" cy="523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1" name="肘形连接符 40"/>
          <p:cNvCxnSpPr>
            <a:stCxn id="9" idx="3"/>
            <a:endCxn id="10" idx="1"/>
          </p:cNvCxnSpPr>
          <p:nvPr/>
        </p:nvCxnSpPr>
        <p:spPr>
          <a:xfrm flipV="1">
            <a:off x="5114925" y="3190875"/>
            <a:ext cx="238125" cy="523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2" name="肘形连接符 41"/>
          <p:cNvCxnSpPr>
            <a:stCxn id="10" idx="3"/>
            <a:endCxn id="11" idx="1"/>
          </p:cNvCxnSpPr>
          <p:nvPr/>
        </p:nvCxnSpPr>
        <p:spPr>
          <a:xfrm>
            <a:off x="6267450" y="3190875"/>
            <a:ext cx="238125" cy="523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11" idx="3"/>
            <a:endCxn id="12" idx="1"/>
          </p:cNvCxnSpPr>
          <p:nvPr/>
        </p:nvCxnSpPr>
        <p:spPr>
          <a:xfrm flipV="1">
            <a:off x="7419975" y="3190875"/>
            <a:ext cx="238125" cy="523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4" name="肘形连接符 43"/>
          <p:cNvCxnSpPr>
            <a:stCxn id="12" idx="3"/>
            <a:endCxn id="13" idx="1"/>
          </p:cNvCxnSpPr>
          <p:nvPr/>
        </p:nvCxnSpPr>
        <p:spPr>
          <a:xfrm>
            <a:off x="8572500" y="3190875"/>
            <a:ext cx="238125" cy="523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5" name="肘形连接符 44"/>
          <p:cNvCxnSpPr>
            <a:stCxn id="13" idx="3"/>
            <a:endCxn id="14" idx="1"/>
          </p:cNvCxnSpPr>
          <p:nvPr/>
        </p:nvCxnSpPr>
        <p:spPr>
          <a:xfrm flipV="1">
            <a:off x="9725025" y="3190875"/>
            <a:ext cx="238125" cy="523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sp>
        <p:nvSpPr>
          <p:cNvPr id="22" name="圆角矩形 21"/>
          <p:cNvSpPr>
            <a:spLocks noGrp="1"/>
          </p:cNvSpPr>
          <p:nvPr/>
        </p:nvSpPr>
        <p:spPr>
          <a:xfrm>
            <a:off x="3714750" y="1666875"/>
            <a:ext cx="4762500" cy="2857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 IPD / Spec / 角色职责 / 准入门禁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85875" y="459105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局部编码可以自动化，跨系统交付仍需要人逐个“开门”。</a:t>
            </a:r>
            <a:endParaRPr sz="2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54483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会写代码只是入场券，能走完整个研发流程才是生产力。</a:t>
            </a:r>
            <a:endParaRPr sz="22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能力资产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/ MCP 正在成为新的“配置债务”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15621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当前：多个 Agent、多个目录、重复安装与升级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209550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381250" y="2095500"/>
            <a:ext cx="2476500" cy="666750"/>
          </a:xfrm>
          <a:prstGeom prst="roundRect">
            <a:avLst>
              <a:gd name="adj" fmla="val 1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skills/  mcp/</a:t>
            </a:r>
            <a:endParaRPr sz="14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04850" y="3095625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381250" y="3095625"/>
            <a:ext cx="2476500" cy="666750"/>
          </a:xfrm>
          <a:prstGeom prst="roundRect">
            <a:avLst>
              <a:gd name="adj" fmla="val 1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.codex/  config</a:t>
            </a:r>
            <a:endParaRPr sz="14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04850" y="4095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OpenCode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381250" y="4095750"/>
            <a:ext cx="2476500" cy="666750"/>
          </a:xfrm>
          <a:prstGeom prst="roundRect">
            <a:avLst>
              <a:gd name="adj" fmla="val 1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plugin/  tools/</a:t>
            </a:r>
            <a:endParaRPr sz="14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0" y="2476500"/>
            <a:ext cx="1428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35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重复配置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5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来源不明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5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版本不一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5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权限不可见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858000" y="1619250"/>
            <a:ext cx="4572000" cy="342900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29500" y="19812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目标：统一纳管与分发</a:t>
            </a:r>
            <a:endParaRPr sz="20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524750" y="2647950"/>
            <a:ext cx="3238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一个资产目录</a:t>
            </a:r>
            <a:endParaRPr sz="172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524750" y="3390900"/>
            <a:ext cx="3238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一套安装与权限策略</a:t>
            </a:r>
            <a:endParaRPr sz="172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524750" y="4133850"/>
            <a:ext cx="3238500" cy="590550"/>
          </a:xfrm>
          <a:prstGeom prst="roundRect">
            <a:avLst>
              <a:gd name="adj" fmla="val 19355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一次配置，多处复用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619250" y="561975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知识没有被产品化，就无法规模化复制。</a:t>
            </a:r>
            <a:endParaRPr sz="22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并行执行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单工作区 + 原始 CLI，把并行产能锁死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621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今天：所有任务挤在一条车道</a:t>
            </a:r>
            <a:endParaRPr sz="17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209800"/>
            <a:ext cx="10382250" cy="876300"/>
          </a:xfrm>
          <a:prstGeom prst="rect">
            <a:avLst/>
          </a:prstGeom>
          <a:solidFill>
            <a:srgbClr val="E7E9ED"/>
          </a:solidFill>
          <a:ln w="0">
            <a:noFill/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047750" y="2647950"/>
            <a:ext cx="99060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dash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285875" y="2343150"/>
            <a:ext cx="1485900" cy="552450"/>
          </a:xfrm>
          <a:prstGeom prst="roundRect">
            <a:avLst>
              <a:gd name="adj" fmla="val 20690"/>
            </a:avLst>
          </a:prstGeom>
          <a:solidFill>
            <a:srgbClr val="C7000B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A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524250" y="2343150"/>
            <a:ext cx="1485900" cy="552450"/>
          </a:xfrm>
          <a:prstGeom prst="roundRect">
            <a:avLst>
              <a:gd name="adj" fmla="val 20690"/>
            </a:avLst>
          </a:prstGeom>
          <a:solidFill>
            <a:srgbClr val="465569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 B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762625" y="2343150"/>
            <a:ext cx="1485900" cy="552450"/>
          </a:xfrm>
          <a:prstGeom prst="roundRect">
            <a:avLst>
              <a:gd name="adj" fmla="val 20690"/>
            </a:avLst>
          </a:prstGeom>
          <a:solidFill>
            <a:srgbClr val="465569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 C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01000" y="2343150"/>
            <a:ext cx="1485900" cy="552450"/>
          </a:xfrm>
          <a:prstGeom prst="roundRect">
            <a:avLst>
              <a:gd name="adj" fmla="val 20690"/>
            </a:avLst>
          </a:prstGeom>
          <a:solidFill>
            <a:srgbClr val="465569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热修 D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52750" y="3190875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分支 / 依赖 / 临时文件 / 未提交修改相互争抢</a:t>
            </a:r>
            <a:endParaRPr sz="15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382905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Ora：一 Task 一 Worktree，多条开发车道并行</a:t>
            </a:r>
            <a:endParaRPr sz="17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0100" y="4381500"/>
            <a:ext cx="10382250" cy="40005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44481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A · Codex</a:t>
            </a:r>
            <a:endParaRPr sz="13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3905250" y="4581525"/>
            <a:ext cx="666750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601200" y="443865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独立分支</a:t>
            </a:r>
            <a:endParaRPr sz="105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00100" y="4933950"/>
            <a:ext cx="10382250" cy="400050"/>
          </a:xfrm>
          <a:prstGeom prst="roundRect">
            <a:avLst>
              <a:gd name="adj" fmla="val 9524"/>
            </a:avLst>
          </a:prstGeom>
          <a:solidFill>
            <a:srgbClr val="E8F9FB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50006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 B · Claude Code</a:t>
            </a:r>
            <a:endParaRPr sz="13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3905250" y="5133975"/>
            <a:ext cx="6667500" cy="0"/>
          </a:xfrm>
          <a:prstGeom prst="line">
            <a:avLst/>
          </a:prstGeom>
          <a:noFill/>
          <a:ln w="38100">
            <a:solidFill>
              <a:srgbClr val="22BFD3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01200" y="499110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独立分支</a:t>
            </a:r>
            <a:endParaRPr sz="105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00100" y="5486400"/>
            <a:ext cx="10382250" cy="400050"/>
          </a:xfrm>
          <a:prstGeom prst="roundRect">
            <a:avLst>
              <a:gd name="adj" fmla="val 9524"/>
            </a:avLst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66800" y="55530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 C · OpenCode</a:t>
            </a:r>
            <a:endParaRPr sz="13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3905250" y="5686425"/>
            <a:ext cx="6667500" cy="0"/>
          </a:xfrm>
          <a:prstGeom prst="line">
            <a:avLst/>
          </a:prstGeom>
          <a:noFill/>
          <a:ln w="38100">
            <a:solidFill>
              <a:srgbClr val="14805E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601200" y="554355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独立分支</a:t>
            </a:r>
            <a:endParaRPr sz="105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价值泄漏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真正损失的是开发连续性与组织复用率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3241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模型能力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19350" y="180975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上下文重建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2562225" y="2533650"/>
            <a:ext cx="228600" cy="2286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914650" y="23241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执行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67250" y="180975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人工复制粘贴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810125" y="2533650"/>
            <a:ext cx="228600" cy="2286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162550" y="23241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企业流程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915150" y="180975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系统间跳转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058025" y="2533650"/>
            <a:ext cx="228600" cy="2286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7410450" y="23241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代码合入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63050" y="180975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83"/>
          </a:bodyPr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失败后人工解释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305925" y="2533650"/>
            <a:ext cx="228600" cy="2286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658350" y="23241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14805E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组织复用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直接箭头连接符 45"/>
          <p:cNvCxnSpPr>
            <a:stCxn id="7" idx="3"/>
            <a:endCxn id="10" idx="1"/>
          </p:cNvCxnSpPr>
          <p:nvPr/>
        </p:nvCxnSpPr>
        <p:spPr>
          <a:xfrm>
            <a:off x="2381250" y="2705100"/>
            <a:ext cx="533400" cy="0"/>
          </a:xfrm>
          <a:prstGeom prst="straightConnector1">
            <a:avLst/>
          </a:prstGeom>
          <a:ln w="3810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7" name="直接箭头连接符 46"/>
          <p:cNvCxnSpPr>
            <a:stCxn id="10" idx="3"/>
            <a:endCxn id="13" idx="1"/>
          </p:cNvCxnSpPr>
          <p:nvPr/>
        </p:nvCxnSpPr>
        <p:spPr>
          <a:xfrm>
            <a:off x="4629150" y="2705100"/>
            <a:ext cx="533400" cy="0"/>
          </a:xfrm>
          <a:prstGeom prst="straightConnector1">
            <a:avLst/>
          </a:prstGeom>
          <a:ln w="3810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8" name="直接箭头连接符 47"/>
          <p:cNvCxnSpPr>
            <a:stCxn id="13" idx="3"/>
            <a:endCxn id="16" idx="1"/>
          </p:cNvCxnSpPr>
          <p:nvPr/>
        </p:nvCxnSpPr>
        <p:spPr>
          <a:xfrm>
            <a:off x="6877050" y="2705100"/>
            <a:ext cx="533400" cy="0"/>
          </a:xfrm>
          <a:prstGeom prst="straightConnector1">
            <a:avLst/>
          </a:prstGeom>
          <a:ln w="3810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9" name="直接箭头连接符 48"/>
          <p:cNvCxnSpPr>
            <a:stCxn id="16" idx="3"/>
            <a:endCxn id="19" idx="1"/>
          </p:cNvCxnSpPr>
          <p:nvPr/>
        </p:nvCxnSpPr>
        <p:spPr>
          <a:xfrm>
            <a:off x="9124950" y="2705100"/>
            <a:ext cx="533400" cy="0"/>
          </a:xfrm>
          <a:prstGeom prst="straightConnector1">
            <a:avLst/>
          </a:prstGeom>
          <a:ln w="38100">
            <a:solidFill>
              <a:srgbClr val="465569"/>
            </a:solidFill>
            <a:prstDash val="solid"/>
            <a:tailEnd type="triangle" w="sm" len="sm"/>
          </a:ln>
        </p:spPr>
      </p:cxnSp>
      <p:sp>
        <p:nvSpPr>
          <p:cNvPr id="24" name="矩形 23"/>
          <p:cNvSpPr>
            <a:spLocks noGrp="1"/>
          </p:cNvSpPr>
          <p:nvPr/>
        </p:nvSpPr>
        <p:spPr>
          <a:xfrm>
            <a:off x="876300" y="3581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 · Token · 工具</a:t>
            </a:r>
            <a:endParaRPr sz="15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10700" y="35814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有效交付</a:t>
            </a:r>
            <a:endParaRPr sz="15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714500" y="4476750"/>
            <a:ext cx="8763000" cy="990600"/>
          </a:xfrm>
          <a:prstGeom prst="roundRect">
            <a:avLst>
              <a:gd name="adj" fmla="val 11538"/>
            </a:avLst>
          </a:prstGeom>
          <a:solidFill>
            <a:srgbClr val="FCEBEC"/>
          </a:solidFill>
          <a:ln w="9525">
            <a:solidFill>
              <a:srgbClr val="F1B7B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 的价值：减少每一次切换、等待、返工和重复配置</a:t>
            </a:r>
            <a:endParaRPr sz="21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解题总纲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 用“四个统一”把异构 Agent 变成一套生产系统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000625" y="270510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790700"/>
            <a:ext cx="3238500" cy="1352550"/>
          </a:xfrm>
          <a:prstGeom prst="roundRect">
            <a:avLst>
              <a:gd name="adj" fmla="val 12676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00025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75"/>
          </a:bodyPr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统一对象</a:t>
            </a:r>
            <a:endParaRPr sz="1950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438400"/>
            <a:ext cx="2705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/ Task / Worktree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 / Agent / Skill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43875" y="1790700"/>
            <a:ext cx="3238500" cy="1352550"/>
          </a:xfrm>
          <a:prstGeom prst="roundRect">
            <a:avLst>
              <a:gd name="adj" fmla="val 12676"/>
            </a:avLst>
          </a:prstGeom>
          <a:solidFill>
            <a:srgbClr val="E8F9FB"/>
          </a:solidFill>
          <a:ln w="9525">
            <a:solidFill>
              <a:srgbClr val="0B7E8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10575" y="200025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75"/>
          </a:bodyPr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统一语言</a:t>
            </a:r>
            <a:endParaRPr sz="1950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10575" y="2438400"/>
            <a:ext cx="2705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 + ACP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跨端、跨 Agent 对齐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0100" y="4152900"/>
            <a:ext cx="3238500" cy="1352550"/>
          </a:xfrm>
          <a:prstGeom prst="roundRect">
            <a:avLst>
              <a:gd name="adj" fmla="val 12676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36245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75"/>
          </a:bodyPr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统一资产</a:t>
            </a:r>
            <a:endParaRPr sz="1950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4800600"/>
            <a:ext cx="2705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/ Skill / MCP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纳管、分发、治理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43875" y="4152900"/>
            <a:ext cx="3238500" cy="1352550"/>
          </a:xfrm>
          <a:prstGeom prst="roundRect">
            <a:avLst>
              <a:gd name="adj" fmla="val 12676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10575" y="436245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75"/>
          </a:bodyPr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统一车道</a:t>
            </a:r>
            <a:endParaRPr sz="19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10575" y="4800600"/>
            <a:ext cx="2705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 Task 一 Worktree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并行</a:t>
            </a:r>
            <a:endParaRPr sz="142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肘形连接符 44"/>
          <p:cNvCxnSpPr>
            <a:stCxn id="8" idx="3"/>
            <a:endCxn id="7" idx="1"/>
          </p:cNvCxnSpPr>
          <p:nvPr/>
        </p:nvCxnSpPr>
        <p:spPr>
          <a:xfrm>
            <a:off x="4038600" y="2466975"/>
            <a:ext cx="962025" cy="7715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6" name="肘形连接符 45"/>
          <p:cNvCxnSpPr>
            <a:stCxn id="11" idx="1"/>
            <a:endCxn id="7" idx="3"/>
          </p:cNvCxnSpPr>
          <p:nvPr/>
        </p:nvCxnSpPr>
        <p:spPr>
          <a:xfrm flipH="1">
            <a:off x="7191375" y="2466975"/>
            <a:ext cx="952500" cy="7715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7" name="肘形连接符 46"/>
          <p:cNvCxnSpPr>
            <a:stCxn id="14" idx="3"/>
            <a:endCxn id="7" idx="1"/>
          </p:cNvCxnSpPr>
          <p:nvPr/>
        </p:nvCxnSpPr>
        <p:spPr>
          <a:xfrm flipV="1">
            <a:off x="4038600" y="3238500"/>
            <a:ext cx="962025" cy="15906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8" name="肘形连接符 47"/>
          <p:cNvCxnSpPr>
            <a:stCxn id="17" idx="1"/>
            <a:endCxn id="7" idx="3"/>
          </p:cNvCxnSpPr>
          <p:nvPr/>
        </p:nvCxnSpPr>
        <p:spPr>
          <a:xfrm flipH="1" flipV="1">
            <a:off x="7191375" y="3238500"/>
            <a:ext cx="952500" cy="15906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sp>
        <p:nvSpPr>
          <p:cNvPr id="24" name="圆角矩形 23"/>
          <p:cNvSpPr>
            <a:spLocks noGrp="1"/>
          </p:cNvSpPr>
          <p:nvPr/>
        </p:nvSpPr>
        <p:spPr>
          <a:xfrm>
            <a:off x="3143250" y="5476875"/>
            <a:ext cx="5905500" cy="2857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外圈：Agent / UI / Workbench / Workflow / Integration 插件</a:t>
            </a:r>
            <a:endParaRPr sz="11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33750" y="59626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98"/>
          </a:bodyPr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书同文 · 车同轨 · 统一度量衡</a:t>
            </a:r>
            <a:endParaRPr sz="19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 不是聊天框，而是 AI Agent 的 IDE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0" y="2238375"/>
            <a:ext cx="2095500" cy="209550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4210050" y="4524375"/>
            <a:ext cx="3771900" cy="80010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wrap="square" lIns="95250" tIns="76200" rIns="95250" bIns="76200" anchor="ctr">
            <a:normAutofit fontScale="9801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统一工作空间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· Task · Session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180975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 fontScale="89917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多端入口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/ Desktop / Mobile 规划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85800" y="30480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统一管理面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Agents / Skills / MCP 规划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5800" y="428625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 fontScale="97283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统一执行面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/ Worktree / PTY / 日志</a:t>
            </a:r>
            <a:endParaRPr sz="15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648700" y="180975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7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· OpenCode</a:t>
            </a:r>
            <a:endParaRPr sz="157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648700" y="30480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E8F9FB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Workbench / UI</a:t>
            </a:r>
            <a:endParaRPr sz="157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专业工作台</a:t>
            </a:r>
            <a:endParaRPr sz="157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48700" y="428625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 / 企业系统</a:t>
            </a:r>
            <a:endParaRPr sz="15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CodeHub · Pipeline · 通知</a:t>
            </a:r>
            <a:endParaRPr sz="15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肘形连接符 37"/>
          <p:cNvCxnSpPr>
            <a:stCxn id="9" idx="3"/>
            <a:endCxn id="8" idx="1"/>
          </p:cNvCxnSpPr>
          <p:nvPr/>
        </p:nvCxnSpPr>
        <p:spPr>
          <a:xfrm>
            <a:off x="3543300" y="2247900"/>
            <a:ext cx="666750" cy="26765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39" name="肘形连接符 38"/>
          <p:cNvCxnSpPr>
            <a:stCxn id="10" idx="3"/>
            <a:endCxn id="8" idx="1"/>
          </p:cNvCxnSpPr>
          <p:nvPr/>
        </p:nvCxnSpPr>
        <p:spPr>
          <a:xfrm>
            <a:off x="3543300" y="3486150"/>
            <a:ext cx="666750" cy="14382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0" name="肘形连接符 39"/>
          <p:cNvCxnSpPr>
            <a:stCxn id="11" idx="3"/>
            <a:endCxn id="8" idx="1"/>
          </p:cNvCxnSpPr>
          <p:nvPr/>
        </p:nvCxnSpPr>
        <p:spPr>
          <a:xfrm>
            <a:off x="3543300" y="4724400"/>
            <a:ext cx="666750" cy="2000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1" name="肘形连接符 40"/>
          <p:cNvCxnSpPr>
            <a:stCxn id="8" idx="3"/>
            <a:endCxn id="12" idx="1"/>
          </p:cNvCxnSpPr>
          <p:nvPr/>
        </p:nvCxnSpPr>
        <p:spPr>
          <a:xfrm flipV="1">
            <a:off x="7981950" y="2247900"/>
            <a:ext cx="666750" cy="26765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2" name="肘形连接符 41"/>
          <p:cNvCxnSpPr>
            <a:stCxn id="8" idx="3"/>
            <a:endCxn id="13" idx="1"/>
          </p:cNvCxnSpPr>
          <p:nvPr/>
        </p:nvCxnSpPr>
        <p:spPr>
          <a:xfrm flipV="1">
            <a:off x="7981950" y="3486150"/>
            <a:ext cx="666750" cy="14382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8" idx="3"/>
            <a:endCxn id="14" idx="1"/>
          </p:cNvCxnSpPr>
          <p:nvPr/>
        </p:nvCxnSpPr>
        <p:spPr>
          <a:xfrm flipV="1">
            <a:off x="7981950" y="4724400"/>
            <a:ext cx="666750" cy="2000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sp>
        <p:nvSpPr>
          <p:cNvPr id="21" name="圆角矩形 20"/>
          <p:cNvSpPr>
            <a:spLocks noGrp="1"/>
          </p:cNvSpPr>
          <p:nvPr/>
        </p:nvSpPr>
        <p:spPr>
          <a:xfrm>
            <a:off x="2381250" y="56959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不重新训练模型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400550" y="56959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不替代现有 Agent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419850" y="56959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不再造封闭系统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核心交互模型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以任务为中心：Agent 可以换，工作不断档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2381250"/>
            <a:ext cx="1714500" cy="819150"/>
          </a:xfrm>
          <a:prstGeom prst="roundRect">
            <a:avLst>
              <a:gd name="adj" fmla="val 13953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933700" y="2381250"/>
            <a:ext cx="1714500" cy="819150"/>
          </a:xfrm>
          <a:prstGeom prst="roundRect">
            <a:avLst>
              <a:gd name="adj" fmla="val 13953"/>
            </a:avLst>
          </a:prstGeom>
          <a:solidFill>
            <a:srgbClr val="C7000B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143500" y="2381250"/>
            <a:ext cx="1714500" cy="819150"/>
          </a:xfrm>
          <a:prstGeom prst="roundRect">
            <a:avLst>
              <a:gd name="adj" fmla="val 13953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Worktree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353300" y="2381250"/>
            <a:ext cx="1714500" cy="819150"/>
          </a:xfrm>
          <a:prstGeom prst="roundRect">
            <a:avLst>
              <a:gd name="adj" fmla="val 13953"/>
            </a:avLst>
          </a:prstGeom>
          <a:solidFill>
            <a:srgbClr val="20344D"/>
          </a:solidFill>
          <a:ln w="9525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直接箭头连接符 35"/>
          <p:cNvCxnSpPr>
            <a:stCxn id="7" idx="3"/>
            <a:endCxn id="8" idx="1"/>
          </p:cNvCxnSpPr>
          <p:nvPr/>
        </p:nvCxnSpPr>
        <p:spPr>
          <a:xfrm>
            <a:off x="2438400" y="2790825"/>
            <a:ext cx="495300" cy="0"/>
          </a:xfrm>
          <a:prstGeom prst="straightConnector1">
            <a:avLst/>
          </a:prstGeom>
          <a:ln w="28575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9" idx="1"/>
          </p:cNvCxnSpPr>
          <p:nvPr/>
        </p:nvCxnSpPr>
        <p:spPr>
          <a:xfrm>
            <a:off x="4648200" y="2790825"/>
            <a:ext cx="495300" cy="0"/>
          </a:xfrm>
          <a:prstGeom prst="straightConnector1">
            <a:avLst/>
          </a:prstGeom>
          <a:ln w="28575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38" name="直接箭头连接符 37"/>
          <p:cNvCxnSpPr>
            <a:stCxn id="9" idx="3"/>
            <a:endCxn id="10" idx="1"/>
          </p:cNvCxnSpPr>
          <p:nvPr/>
        </p:nvCxnSpPr>
        <p:spPr>
          <a:xfrm>
            <a:off x="6858000" y="2790825"/>
            <a:ext cx="495300" cy="0"/>
          </a:xfrm>
          <a:prstGeom prst="straightConnector1">
            <a:avLst/>
          </a:prstGeom>
          <a:ln w="28575">
            <a:solidFill>
              <a:srgbClr val="465569"/>
            </a:solidFill>
            <a:prstDash val="solid"/>
            <a:tailEnd type="triangle" w="sm" len="sm"/>
          </a:ln>
        </p:spPr>
      </p:cxnSp>
      <p:sp>
        <p:nvSpPr>
          <p:cNvPr id="14" name="圆角矩形 13"/>
          <p:cNvSpPr>
            <a:spLocks noGrp="1"/>
          </p:cNvSpPr>
          <p:nvPr/>
        </p:nvSpPr>
        <p:spPr>
          <a:xfrm>
            <a:off x="9620250" y="1733550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2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620250" y="2647950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620250" y="3562350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E8F9FB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OpenCode</a:t>
            </a:r>
            <a:endParaRPr sz="1425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肘形连接符 41"/>
          <p:cNvCxnSpPr>
            <a:stCxn id="10" idx="3"/>
            <a:endCxn id="14" idx="1"/>
          </p:cNvCxnSpPr>
          <p:nvPr/>
        </p:nvCxnSpPr>
        <p:spPr>
          <a:xfrm flipV="1">
            <a:off x="9067800" y="2019300"/>
            <a:ext cx="552450" cy="7715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10" idx="3"/>
            <a:endCxn id="15" idx="1"/>
          </p:cNvCxnSpPr>
          <p:nvPr/>
        </p:nvCxnSpPr>
        <p:spPr>
          <a:xfrm>
            <a:off x="9067800" y="2790825"/>
            <a:ext cx="552450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44" name="肘形连接符 43"/>
          <p:cNvCxnSpPr>
            <a:stCxn id="10" idx="3"/>
            <a:endCxn id="16" idx="1"/>
          </p:cNvCxnSpPr>
          <p:nvPr/>
        </p:nvCxnSpPr>
        <p:spPr>
          <a:xfrm>
            <a:off x="9067800" y="2790825"/>
            <a:ext cx="552450" cy="10572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sp>
        <p:nvSpPr>
          <p:cNvPr id="20" name="矩形 19"/>
          <p:cNvSpPr>
            <a:spLocks noGrp="1"/>
          </p:cNvSpPr>
          <p:nvPr/>
        </p:nvSpPr>
        <p:spPr>
          <a:xfrm>
            <a:off x="723900" y="3371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长期工程上下文</a:t>
            </a:r>
            <a:endParaRPr sz="1275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933700" y="3371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可交付工作单元</a:t>
            </a:r>
            <a:endParaRPr sz="1275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3371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隔离执行车道</a:t>
            </a:r>
            <a:endParaRPr sz="1275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53300" y="3371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可恢复运行身份</a:t>
            </a:r>
            <a:endParaRPr sz="1275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790700" y="4572000"/>
            <a:ext cx="8610600" cy="838200"/>
          </a:xfrm>
          <a:prstGeom prst="roundRect">
            <a:avLst>
              <a:gd name="adj" fmla="val 13636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 · 计划 · 权限 · 工具调用 · 日志 · 产物，都围绕 Task 聚合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571750" y="5810250"/>
            <a:ext cx="704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 Agent 像换浏览器引擎，不必更换操作系统。</a:t>
            </a:r>
            <a:endParaRPr sz="20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Worktree 并行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 Task 一 Worktree，把并行从口号变成基础设施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809750"/>
            <a:ext cx="10744200" cy="838200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809750"/>
            <a:ext cx="114300" cy="838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19907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A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628900" y="20002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feature/task-a</a:t>
            </a:r>
            <a:endParaRPr sz="11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4667250" y="2228850"/>
            <a:ext cx="2857500" cy="0"/>
          </a:xfrm>
          <a:prstGeom prst="line">
            <a:avLst/>
          </a:prstGeom>
          <a:noFill/>
          <a:ln w="47625">
            <a:solidFill>
              <a:srgbClr val="1F6FEB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7810500" y="1962150"/>
            <a:ext cx="180975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5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810750" y="2076450"/>
            <a:ext cx="1285875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独立工作区</a:t>
            </a:r>
            <a:endParaRPr sz="10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23900" y="2914650"/>
            <a:ext cx="10744200" cy="838200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2914650"/>
            <a:ext cx="114300" cy="838200"/>
          </a:xfrm>
          <a:prstGeom prst="rect">
            <a:avLst/>
          </a:prstGeom>
          <a:solidFill>
            <a:srgbClr val="22BFD3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3095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 B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628900" y="31051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fix/task-b</a:t>
            </a:r>
            <a:endParaRPr sz="11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667250" y="3333750"/>
            <a:ext cx="2857500" cy="0"/>
          </a:xfrm>
          <a:prstGeom prst="line">
            <a:avLst/>
          </a:prstGeom>
          <a:noFill/>
          <a:ln w="47625">
            <a:solidFill>
              <a:srgbClr val="22BFD3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7810500" y="3067050"/>
            <a:ext cx="180975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0750" y="3181350"/>
            <a:ext cx="1285875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独立工作区</a:t>
            </a:r>
            <a:endParaRPr sz="10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3900" y="4019550"/>
            <a:ext cx="10744200" cy="838200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4019550"/>
            <a:ext cx="114300" cy="838200"/>
          </a:xfrm>
          <a:prstGeom prst="rect">
            <a:avLst/>
          </a:prstGeom>
          <a:solidFill>
            <a:srgbClr val="14805E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42005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 C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628900" y="42100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refactor/task-c</a:t>
            </a:r>
            <a:endParaRPr sz="11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667250" y="4438650"/>
            <a:ext cx="2857500" cy="0"/>
          </a:xfrm>
          <a:prstGeom prst="line">
            <a:avLst/>
          </a:prstGeom>
          <a:noFill/>
          <a:ln w="47625">
            <a:solidFill>
              <a:srgbClr val="14805E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810500" y="4171950"/>
            <a:ext cx="180975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OpenCode</a:t>
            </a:r>
            <a:endParaRPr sz="15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810750" y="4286250"/>
            <a:ext cx="1285875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独立工作区</a:t>
            </a:r>
            <a:endParaRPr sz="10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76300" y="5334000"/>
            <a:ext cx="32385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Task 自动 provision linked Worktree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400550" y="5334000"/>
            <a:ext cx="3238500" cy="28575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持久化失败补偿清理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24800" y="5334000"/>
            <a:ext cx="3238500" cy="28575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 Task 回收工作区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809750" y="58864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83"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Worktree 像喝水一样简单——欢迎加入并行世界。</a:t>
            </a:r>
            <a:endParaRPr sz="20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应用架构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稳定内核承载快速变化的 Agent 生态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42875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20344D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已有基础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828800" y="142875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联调中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933700" y="142875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 / 试点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23900" y="1847850"/>
            <a:ext cx="10744200" cy="53340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009775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多端体验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2457450"/>
            <a:ext cx="10744200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2619375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AppShell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23900" y="3143250"/>
            <a:ext cx="10744200" cy="53340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3305175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契约与接入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23900" y="3981450"/>
            <a:ext cx="10744200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143375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平台内核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23900" y="4876800"/>
            <a:ext cx="10744200" cy="53340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5038725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插件控制面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23900" y="5619750"/>
            <a:ext cx="10744200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5781675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执行与企业系统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2114550" y="1924050"/>
            <a:ext cx="171450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43649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当前主形态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000500" y="1924050"/>
            <a:ext cx="20002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43649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Desktop / Tauri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同源壳已铺设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72200" y="1924050"/>
            <a:ext cx="1714500" cy="381000"/>
          </a:xfrm>
          <a:prstGeom prst="roundRect">
            <a:avLst>
              <a:gd name="adj" fmla="val 3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43649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同源演进方向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114550" y="2533650"/>
            <a:ext cx="57721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81841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Workspace · Chat · Settings / Atoms · Platform Adapter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114550" y="3219450"/>
            <a:ext cx="16192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87297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 TS Client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867150" y="3219450"/>
            <a:ext cx="17335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87297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/ Host Bridge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734050" y="3219450"/>
            <a:ext cx="1619250" cy="381000"/>
          </a:xfrm>
          <a:prstGeom prst="roundRect">
            <a:avLst>
              <a:gd name="adj" fmla="val 30000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  <p:txBody>
          <a:bodyPr wrap="square" lIns="95250" tIns="76200" rIns="95250" bIns="76200" anchor="ctr">
            <a:normAutofit fontScale="87297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ACP 契约与状态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486650" y="3219450"/>
            <a:ext cx="2038350" cy="381000"/>
          </a:xfrm>
          <a:prstGeom prst="roundRect">
            <a:avLst>
              <a:gd name="adj" fmla="val 30000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  <p:txBody>
          <a:bodyPr wrap="square" lIns="95250" tIns="76200" rIns="95250" bIns="76200" anchor="ctr">
            <a:normAutofit fontScale="87297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Plugin JSON-RPC / stdio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114550" y="4057650"/>
            <a:ext cx="12382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Application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467100" y="4057650"/>
            <a:ext cx="11620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Domain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4743450" y="405765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905500" y="4057650"/>
            <a:ext cx="12382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Gitlancer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258050" y="4057650"/>
            <a:ext cx="114300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515350" y="4057650"/>
            <a:ext cx="8572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PTY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486900" y="405765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Logging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114550" y="4953000"/>
            <a:ext cx="1504950" cy="381000"/>
          </a:xfrm>
          <a:prstGeom prst="roundRect">
            <a:avLst>
              <a:gd name="adj" fmla="val 3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Plugin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3790950" y="4953000"/>
            <a:ext cx="1504950" cy="381000"/>
          </a:xfrm>
          <a:prstGeom prst="roundRect">
            <a:avLst>
              <a:gd name="adj" fmla="val 3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Workbench Plugin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467350" y="4953000"/>
            <a:ext cx="1504950" cy="381000"/>
          </a:xfrm>
          <a:prstGeom prst="roundRect">
            <a:avLst>
              <a:gd name="adj" fmla="val 3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Plugin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143750" y="4953000"/>
            <a:ext cx="1504950" cy="381000"/>
          </a:xfrm>
          <a:prstGeom prst="roundRect">
            <a:avLst>
              <a:gd name="adj" fmla="val 3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93533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Plugin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820150" y="4953000"/>
            <a:ext cx="1504950" cy="381000"/>
          </a:xfrm>
          <a:prstGeom prst="roundRect">
            <a:avLst>
              <a:gd name="adj" fmla="val 3000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80589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/ Integration Plugin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114550" y="5705475"/>
            <a:ext cx="2095500" cy="400050"/>
          </a:xfrm>
          <a:prstGeom prst="roundRect">
            <a:avLst>
              <a:gd name="adj" fmla="val 28571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 fontScale="9758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A → Worktree A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4343400" y="5705475"/>
            <a:ext cx="2095500" cy="400050"/>
          </a:xfrm>
          <a:prstGeom prst="roundRect">
            <a:avLst>
              <a:gd name="adj" fmla="val 28571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 fontScale="9758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B → Worktree B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6572250" y="5705475"/>
            <a:ext cx="2095500" cy="400050"/>
          </a:xfrm>
          <a:prstGeom prst="roundRect">
            <a:avLst>
              <a:gd name="adj" fmla="val 28571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 fontScale="9758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N → Worktree N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8801100" y="5705475"/>
            <a:ext cx="2476500" cy="400050"/>
          </a:xfrm>
          <a:prstGeom prst="roundRect">
            <a:avLst>
              <a:gd name="adj" fmla="val 28571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dash"/>
          </a:ln>
        </p:spPr>
        <p:txBody>
          <a:bodyPr wrap="square" lIns="95250" tIns="76200" rIns="95250" bIns="76200" anchor="ctr">
            <a:normAutofit fontScale="98739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CodeHub · Pipeline · Skills / MCP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1" name="肘形连接符 110"/>
          <p:cNvCxnSpPr>
            <a:stCxn id="22" idx="2"/>
            <a:endCxn id="25" idx="0"/>
          </p:cNvCxnSpPr>
          <p:nvPr/>
        </p:nvCxnSpPr>
        <p:spPr>
          <a:xfrm>
            <a:off x="2971800" y="2305050"/>
            <a:ext cx="2028825" cy="22860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12" name="直接箭头连接符 111"/>
          <p:cNvCxnSpPr>
            <a:stCxn id="23" idx="2"/>
            <a:endCxn id="25" idx="0"/>
          </p:cNvCxnSpPr>
          <p:nvPr/>
        </p:nvCxnSpPr>
        <p:spPr>
          <a:xfrm>
            <a:off x="5000625" y="2305050"/>
            <a:ext cx="0" cy="22860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13" name="肘形连接符 112"/>
          <p:cNvCxnSpPr>
            <a:stCxn id="24" idx="2"/>
            <a:endCxn id="25" idx="0"/>
          </p:cNvCxnSpPr>
          <p:nvPr/>
        </p:nvCxnSpPr>
        <p:spPr>
          <a:xfrm flipH="1">
            <a:off x="5000625" y="2305050"/>
            <a:ext cx="2028825" cy="22860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465569"/>
            </a:solidFill>
            <a:prstDash val="dash"/>
            <a:tailEnd type="triangle" w="sm" len="sm"/>
          </a:ln>
        </p:spPr>
      </p:cxnSp>
      <p:cxnSp>
        <p:nvCxnSpPr>
          <p:cNvPr id="114" name="肘形连接符 113"/>
          <p:cNvCxnSpPr>
            <a:stCxn id="25" idx="2"/>
            <a:endCxn id="27" idx="0"/>
          </p:cNvCxnSpPr>
          <p:nvPr/>
        </p:nvCxnSpPr>
        <p:spPr>
          <a:xfrm flipH="1">
            <a:off x="4733925" y="2914650"/>
            <a:ext cx="266700" cy="3048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15" name="直接箭头连接符 114"/>
          <p:cNvCxnSpPr>
            <a:stCxn id="26" idx="3"/>
            <a:endCxn id="27" idx="1"/>
          </p:cNvCxnSpPr>
          <p:nvPr/>
        </p:nvCxnSpPr>
        <p:spPr>
          <a:xfrm>
            <a:off x="3733800" y="3409950"/>
            <a:ext cx="133350" cy="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16" name="肘形连接符 115"/>
          <p:cNvCxnSpPr>
            <a:stCxn id="27" idx="2"/>
            <a:endCxn id="30" idx="0"/>
          </p:cNvCxnSpPr>
          <p:nvPr/>
        </p:nvCxnSpPr>
        <p:spPr>
          <a:xfrm flipH="1">
            <a:off x="2733675" y="3600450"/>
            <a:ext cx="200025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17" name="肘形连接符 116"/>
          <p:cNvCxnSpPr>
            <a:stCxn id="28" idx="2"/>
            <a:endCxn id="39" idx="0"/>
          </p:cNvCxnSpPr>
          <p:nvPr/>
        </p:nvCxnSpPr>
        <p:spPr>
          <a:xfrm flipH="1">
            <a:off x="609600" y="3600450"/>
            <a:ext cx="5934075" cy="1352550"/>
          </a:xfrm>
          <a:prstGeom prst="bentConnector4">
            <a:avLst/>
          </a:prstGeom>
          <a:ln w="14288">
            <a:solidFill>
              <a:srgbClr val="B66A00"/>
            </a:solidFill>
            <a:prstDash val="dash"/>
            <a:tailEnd type="triangle" w="sm" len="sm"/>
          </a:ln>
        </p:spPr>
      </p:cxnSp>
      <p:cxnSp>
        <p:nvCxnSpPr>
          <p:cNvPr id="118" name="肘形连接符 117"/>
          <p:cNvCxnSpPr>
            <a:stCxn id="29" idx="2"/>
            <a:endCxn id="40" idx="0"/>
          </p:cNvCxnSpPr>
          <p:nvPr/>
        </p:nvCxnSpPr>
        <p:spPr>
          <a:xfrm flipH="1">
            <a:off x="609600" y="3600450"/>
            <a:ext cx="7896225" cy="1352550"/>
          </a:xfrm>
          <a:prstGeom prst="bentConnector4">
            <a:avLst/>
          </a:prstGeom>
          <a:ln w="14288">
            <a:solidFill>
              <a:srgbClr val="B66A00"/>
            </a:solidFill>
            <a:prstDash val="dash"/>
            <a:tailEnd type="triangle" w="sm" len="sm"/>
          </a:ln>
        </p:spPr>
      </p:cxnSp>
      <p:cxnSp>
        <p:nvCxnSpPr>
          <p:cNvPr id="119" name="直接箭头连接符 118"/>
          <p:cNvCxnSpPr>
            <a:stCxn id="30" idx="3"/>
            <a:endCxn id="31" idx="1"/>
          </p:cNvCxnSpPr>
          <p:nvPr/>
        </p:nvCxnSpPr>
        <p:spPr>
          <a:xfrm>
            <a:off x="3352800" y="4248150"/>
            <a:ext cx="114300" cy="0"/>
          </a:xfrm>
          <a:prstGeom prst="straightConnector1">
            <a:avLst/>
          </a:prstGeom>
          <a:ln w="1143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0" name="直接箭头连接符 119"/>
          <p:cNvCxnSpPr>
            <a:stCxn id="31" idx="3"/>
            <a:endCxn id="32" idx="1"/>
          </p:cNvCxnSpPr>
          <p:nvPr/>
        </p:nvCxnSpPr>
        <p:spPr>
          <a:xfrm>
            <a:off x="4629150" y="4248150"/>
            <a:ext cx="114300" cy="0"/>
          </a:xfrm>
          <a:prstGeom prst="straightConnector1">
            <a:avLst/>
          </a:prstGeom>
          <a:ln w="1143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1" name="直接箭头连接符 120"/>
          <p:cNvCxnSpPr>
            <a:stCxn id="32" idx="3"/>
            <a:endCxn id="33" idx="1"/>
          </p:cNvCxnSpPr>
          <p:nvPr/>
        </p:nvCxnSpPr>
        <p:spPr>
          <a:xfrm>
            <a:off x="5791200" y="4248150"/>
            <a:ext cx="114300" cy="0"/>
          </a:xfrm>
          <a:prstGeom prst="straightConnector1">
            <a:avLst/>
          </a:prstGeom>
          <a:ln w="1143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2" name="直接箭头连接符 121"/>
          <p:cNvCxnSpPr>
            <a:stCxn id="33" idx="3"/>
            <a:endCxn id="34" idx="1"/>
          </p:cNvCxnSpPr>
          <p:nvPr/>
        </p:nvCxnSpPr>
        <p:spPr>
          <a:xfrm>
            <a:off x="7143750" y="4248150"/>
            <a:ext cx="114300" cy="0"/>
          </a:xfrm>
          <a:prstGeom prst="straightConnector1">
            <a:avLst/>
          </a:prstGeom>
          <a:ln w="1143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3" name="直接箭头连接符 122"/>
          <p:cNvCxnSpPr>
            <a:stCxn id="34" idx="3"/>
            <a:endCxn id="35" idx="1"/>
          </p:cNvCxnSpPr>
          <p:nvPr/>
        </p:nvCxnSpPr>
        <p:spPr>
          <a:xfrm>
            <a:off x="8401050" y="4248150"/>
            <a:ext cx="114300" cy="0"/>
          </a:xfrm>
          <a:prstGeom prst="straightConnector1">
            <a:avLst/>
          </a:prstGeom>
          <a:ln w="1143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4" name="直接箭头连接符 123"/>
          <p:cNvCxnSpPr>
            <a:stCxn id="35" idx="3"/>
            <a:endCxn id="36" idx="1"/>
          </p:cNvCxnSpPr>
          <p:nvPr/>
        </p:nvCxnSpPr>
        <p:spPr>
          <a:xfrm>
            <a:off x="9372600" y="4248150"/>
            <a:ext cx="114300" cy="0"/>
          </a:xfrm>
          <a:prstGeom prst="straightConnector1">
            <a:avLst/>
          </a:prstGeom>
          <a:ln w="1143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5" name="肘形连接符 124"/>
          <p:cNvCxnSpPr>
            <a:stCxn id="33" idx="2"/>
            <a:endCxn id="42" idx="0"/>
          </p:cNvCxnSpPr>
          <p:nvPr/>
        </p:nvCxnSpPr>
        <p:spPr>
          <a:xfrm flipH="1">
            <a:off x="3162300" y="4438650"/>
            <a:ext cx="3362325" cy="1266825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126" name="肘形连接符 125"/>
          <p:cNvCxnSpPr>
            <a:stCxn id="33" idx="2"/>
            <a:endCxn id="43" idx="0"/>
          </p:cNvCxnSpPr>
          <p:nvPr/>
        </p:nvCxnSpPr>
        <p:spPr>
          <a:xfrm flipH="1">
            <a:off x="5391150" y="4438650"/>
            <a:ext cx="1133475" cy="1266825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127" name="肘形连接符 126"/>
          <p:cNvCxnSpPr>
            <a:stCxn id="40" idx="2"/>
            <a:endCxn id="45" idx="0"/>
          </p:cNvCxnSpPr>
          <p:nvPr/>
        </p:nvCxnSpPr>
        <p:spPr>
          <a:xfrm>
            <a:off x="7896225" y="5334000"/>
            <a:ext cx="2143125" cy="371475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C7000B"/>
            </a:solidFill>
            <a:prstDash val="dash"/>
            <a:tailEnd type="triangle" w="sm" len="sm"/>
          </a:ln>
        </p:spPr>
      </p:cxnSp>
      <p:sp>
        <p:nvSpPr>
          <p:cNvPr id="63" name="圆角矩形 62"/>
          <p:cNvSpPr>
            <a:spLocks noGrp="1"/>
          </p:cNvSpPr>
          <p:nvPr/>
        </p:nvSpPr>
        <p:spPr>
          <a:xfrm>
            <a:off x="10629900" y="1733550"/>
            <a:ext cx="838200" cy="3829050"/>
          </a:xfrm>
          <a:prstGeom prst="roundRect">
            <a:avLst>
              <a:gd name="adj" fmla="val 13636"/>
            </a:avLst>
          </a:prstGeom>
          <a:solidFill>
            <a:srgbClr val="F9FAFB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0858500" y="2000250"/>
            <a:ext cx="381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5000"/>
              </a:lnSpc>
              <a:buNone/>
              <a:def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</a:t>
            </a:r>
            <a:endParaRPr sz="13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  <a:buNone/>
              <a:def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endParaRPr sz="13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  <a:buNone/>
              <a:def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</a:t>
            </a:r>
            <a:endParaRPr sz="13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  <a:buNone/>
              <a:def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sz="13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820400" y="3333750"/>
            <a:ext cx="4572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45000"/>
              </a:lnSpc>
              <a:buNone/>
              <a:def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</a:t>
            </a:r>
            <a:endParaRPr sz="1125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5000"/>
              </a:lnSpc>
              <a:buNone/>
              <a:def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</a:t>
            </a:r>
            <a:endParaRPr sz="1125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5000"/>
              </a:lnSpc>
              <a:buNone/>
              <a:def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</a:t>
            </a:r>
            <a:endParaRPr sz="1125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5000"/>
              </a:lnSpc>
              <a:buNone/>
              <a:def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</a:t>
            </a:r>
            <a:endParaRPr sz="1125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5000"/>
              </a:lnSpc>
              <a:buNone/>
              <a:def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sz="1125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技术策略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内核提供确定性，插件层提供扩展速度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695450"/>
            <a:ext cx="4762500" cy="3619500"/>
          </a:xfrm>
          <a:prstGeom prst="roundRect">
            <a:avLst>
              <a:gd name="adj" fmla="val 5789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0193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56"/>
          </a:bodyPr>
          <a:lstStyle/>
          <a:p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Host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66900" y="2524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F6AE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6AE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稳定边界</a:t>
            </a:r>
            <a:endParaRPr sz="1500" b="1">
              <a:solidFill>
                <a:srgbClr val="F6AE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04900" y="312420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14450" y="3048000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领域模型、应用用例、持久化与迁移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3588544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14450" y="3512344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/ Worktree 生命周期与失败补偿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04900" y="4052888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14450" y="3976688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进程树、PTY、日志与健康检查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04900" y="4517231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14450" y="4441031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类型契约与跨端一致性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724650" y="1695450"/>
            <a:ext cx="4762500" cy="3619500"/>
          </a:xfrm>
          <a:prstGeom prst="roundRect">
            <a:avLst>
              <a:gd name="adj" fmla="val 5789"/>
            </a:avLst>
          </a:prstGeom>
          <a:solidFill>
            <a:srgbClr val="F4F6F8"/>
          </a:solidFill>
          <a:ln w="19050">
            <a:solidFill>
              <a:srgbClr val="C7000B"/>
            </a:solidFill>
            <a:prstDash val="dash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24700" y="2019300"/>
            <a:ext cx="3962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1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 + Bun Plugins</a:t>
            </a:r>
            <a:endParaRPr sz="21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05750" y="2524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变化边界</a:t>
            </a:r>
            <a:endParaRPr sz="150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7124700" y="312420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34250" y="3048000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快速适配不同 Agent 的安装、配置和会话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124700" y="3588544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334250" y="3512344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 UI、Workbench、工作流和企业系统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7124700" y="4052888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334250" y="3976688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Bun 管理依赖与运行时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124700" y="4517231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334250" y="4441031"/>
            <a:ext cx="36957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一插件一进程，控制故障半径</a:t>
            </a:r>
            <a:endParaRPr sz="15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457825" y="3086100"/>
            <a:ext cx="1276350" cy="742950"/>
          </a:xfrm>
          <a:prstGeom prst="roundRect">
            <a:avLst>
              <a:gd name="adj" fmla="val 15385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稳定接口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38350" y="5810250"/>
            <a:ext cx="811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96"/>
          </a:bodyPr>
          <a:lstStyle/>
          <a:p>
            <a:pPr algn="ctr">
              <a:lnSpc>
                <a:spcPct val="112000"/>
              </a:lnSpc>
              <a:buNone/>
              <a:defRPr sz="21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把变化隔离在插件里，把确定性沉淀在内核里。</a:t>
            </a:r>
            <a:endParaRPr sz="21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插件生态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万物皆可插件化，能力边界可以持续外扩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857750" y="280035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Plugin Host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1695450"/>
            <a:ext cx="3238500" cy="1123950"/>
          </a:xfrm>
          <a:prstGeom prst="roundRect">
            <a:avLst>
              <a:gd name="adj" fmla="val 15254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8669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0"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Plugin</a:t>
            </a:r>
            <a:endParaRPr sz="172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24790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 / 启动 / 适配 Agent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索引配置与可恢复会话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248650" y="1695450"/>
            <a:ext cx="3238500" cy="1123950"/>
          </a:xfrm>
          <a:prstGeom prst="roundRect">
            <a:avLst>
              <a:gd name="adj" fmla="val 15254"/>
            </a:avLst>
          </a:prstGeom>
          <a:solidFill>
            <a:srgbClr val="E8F9FB"/>
          </a:solidFill>
          <a:ln w="9525">
            <a:solidFill>
              <a:srgbClr val="0B7E8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77250" y="18669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0"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Plugin</a:t>
            </a:r>
            <a:endParaRPr sz="172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77250" y="224790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评审面板 / 计划视图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资产浏览器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04850" y="4171950"/>
            <a:ext cx="3238500" cy="1123950"/>
          </a:xfrm>
          <a:prstGeom prst="roundRect">
            <a:avLst>
              <a:gd name="adj" fmla="val 15254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" y="43434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0"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Workbench Plugin</a:t>
            </a:r>
            <a:endParaRPr sz="17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3450" y="472440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 / 测试 / 代码审查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性能分析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248650" y="4171950"/>
            <a:ext cx="3238500" cy="1123950"/>
          </a:xfrm>
          <a:prstGeom prst="roundRect">
            <a:avLst>
              <a:gd name="adj" fmla="val 15254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77250" y="43434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0"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Plugin</a:t>
            </a:r>
            <a:endParaRPr sz="17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77250" y="472440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IPD / Spec / CodeHub / MR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流水线 / 扫描 / 回调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62450" y="4762500"/>
            <a:ext cx="3238500" cy="1123950"/>
          </a:xfrm>
          <a:prstGeom prst="roundRect">
            <a:avLst>
              <a:gd name="adj" fmla="val 15254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91050" y="493395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0"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Integration Plugin</a:t>
            </a:r>
            <a:endParaRPr sz="17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91050" y="531495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 / 审批 / 人员协同</a:t>
            </a:r>
            <a:endParaRPr sz="1275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肘形连接符 50"/>
          <p:cNvCxnSpPr>
            <a:stCxn id="8" idx="3"/>
            <a:endCxn id="7" idx="1"/>
          </p:cNvCxnSpPr>
          <p:nvPr/>
        </p:nvCxnSpPr>
        <p:spPr>
          <a:xfrm>
            <a:off x="3943350" y="2257425"/>
            <a:ext cx="914400" cy="11144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dash"/>
            <a:tailEnd type="triangle" w="sm" len="sm"/>
          </a:ln>
        </p:spPr>
      </p:cxnSp>
      <p:cxnSp>
        <p:nvCxnSpPr>
          <p:cNvPr id="52" name="肘形连接符 51"/>
          <p:cNvCxnSpPr>
            <a:stCxn id="11" idx="1"/>
            <a:endCxn id="7" idx="3"/>
          </p:cNvCxnSpPr>
          <p:nvPr/>
        </p:nvCxnSpPr>
        <p:spPr>
          <a:xfrm flipH="1">
            <a:off x="7334250" y="2257425"/>
            <a:ext cx="914400" cy="11144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dash"/>
            <a:tailEnd type="triangle" w="sm" len="sm"/>
          </a:ln>
        </p:spPr>
      </p:cxnSp>
      <p:cxnSp>
        <p:nvCxnSpPr>
          <p:cNvPr id="53" name="肘形连接符 52"/>
          <p:cNvCxnSpPr>
            <a:stCxn id="14" idx="3"/>
            <a:endCxn id="7" idx="1"/>
          </p:cNvCxnSpPr>
          <p:nvPr/>
        </p:nvCxnSpPr>
        <p:spPr>
          <a:xfrm flipV="1">
            <a:off x="3943350" y="3371850"/>
            <a:ext cx="914400" cy="1362075"/>
          </a:xfrm>
          <a:prstGeom prst="bentConnector3">
            <a:avLst>
              <a:gd name="adj1" fmla="val 25000"/>
            </a:avLst>
          </a:prstGeom>
          <a:ln w="19050">
            <a:solidFill>
              <a:srgbClr val="465569"/>
            </a:solidFill>
            <a:prstDash val="dash"/>
            <a:tailEnd type="triangle" w="sm" len="sm"/>
          </a:ln>
        </p:spPr>
      </p:cxnSp>
      <p:cxnSp>
        <p:nvCxnSpPr>
          <p:cNvPr id="54" name="肘形连接符 53"/>
          <p:cNvCxnSpPr>
            <a:stCxn id="17" idx="1"/>
            <a:endCxn id="7" idx="3"/>
          </p:cNvCxnSpPr>
          <p:nvPr/>
        </p:nvCxnSpPr>
        <p:spPr>
          <a:xfrm flipH="1" flipV="1">
            <a:off x="7334250" y="3371850"/>
            <a:ext cx="914400" cy="13620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dash"/>
            <a:tailEnd type="triangle" w="sm" len="sm"/>
          </a:ln>
        </p:spPr>
      </p:cxnSp>
      <p:cxnSp>
        <p:nvCxnSpPr>
          <p:cNvPr id="55" name="肘形连接符 54"/>
          <p:cNvCxnSpPr>
            <a:stCxn id="20" idx="0"/>
            <a:endCxn id="7" idx="2"/>
          </p:cNvCxnSpPr>
          <p:nvPr/>
        </p:nvCxnSpPr>
        <p:spPr>
          <a:xfrm flipV="1">
            <a:off x="5981700" y="3943350"/>
            <a:ext cx="114300" cy="819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65569"/>
            </a:solidFill>
            <a:prstDash val="dash"/>
            <a:tailEnd type="triangle" w="sm" len="sm"/>
          </a:ln>
        </p:spPr>
      </p:cxnSp>
      <p:sp>
        <p:nvSpPr>
          <p:cNvPr id="28" name="矩形 27"/>
          <p:cNvSpPr>
            <a:spLocks noGrp="1"/>
          </p:cNvSpPr>
          <p:nvPr/>
        </p:nvSpPr>
        <p:spPr>
          <a:xfrm>
            <a:off x="1847850" y="6076950"/>
            <a:ext cx="849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33"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能力边界清晰时，“找同事评审”也可以被封装为人机协同插件。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统一度量衡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2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 + ACP + Atoms，让所有 Agent 说同一种业务语言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1790700"/>
            <a:ext cx="2286000" cy="723900"/>
          </a:xfrm>
          <a:prstGeom prst="roundRect">
            <a:avLst>
              <a:gd name="adj" fmla="val 15789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35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/ 工具表达 A</a:t>
            </a:r>
            <a:endParaRPr sz="135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2781300"/>
            <a:ext cx="2286000" cy="723900"/>
          </a:xfrm>
          <a:prstGeom prst="roundRect">
            <a:avLst>
              <a:gd name="adj" fmla="val 15789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3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/ 工具表达 B</a:t>
            </a:r>
            <a:endParaRPr sz="13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3771900"/>
            <a:ext cx="2286000" cy="723900"/>
          </a:xfrm>
          <a:prstGeom prst="roundRect">
            <a:avLst>
              <a:gd name="adj" fmla="val 15789"/>
            </a:avLst>
          </a:prstGeom>
          <a:solidFill>
            <a:srgbClr val="E8F9FB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OpenCode</a:t>
            </a:r>
            <a:endParaRPr sz="135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/ 工具表达 C</a:t>
            </a:r>
            <a:endParaRPr sz="135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943350" y="22669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ACP 翻译层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· 流式消息 · 权限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 · 终端 · 文件 · MCP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86700" y="2266950"/>
            <a:ext cx="3333750" cy="180975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 业务语言</a:t>
            </a:r>
            <a:endParaRPr sz="16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· Task · Session</a:t>
            </a:r>
            <a:endParaRPr sz="16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 · 状态 · 日志 · 产物</a:t>
            </a:r>
            <a:endParaRPr sz="16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肘形连接符 29"/>
          <p:cNvCxnSpPr>
            <a:stCxn id="7" idx="3"/>
            <a:endCxn id="10" idx="1"/>
          </p:cNvCxnSpPr>
          <p:nvPr/>
        </p:nvCxnSpPr>
        <p:spPr>
          <a:xfrm>
            <a:off x="2952750" y="2152650"/>
            <a:ext cx="990600" cy="10191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8" idx="3"/>
            <a:endCxn id="10" idx="1"/>
          </p:cNvCxnSpPr>
          <p:nvPr/>
        </p:nvCxnSpPr>
        <p:spPr>
          <a:xfrm>
            <a:off x="2952750" y="3143250"/>
            <a:ext cx="99060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32" name="肘形连接符 31"/>
          <p:cNvCxnSpPr>
            <a:stCxn id="9" idx="3"/>
            <a:endCxn id="10" idx="1"/>
          </p:cNvCxnSpPr>
          <p:nvPr/>
        </p:nvCxnSpPr>
        <p:spPr>
          <a:xfrm flipV="1">
            <a:off x="2952750" y="3171825"/>
            <a:ext cx="990600" cy="962025"/>
          </a:xfrm>
          <a:prstGeom prst="bentConnector3">
            <a:avLst>
              <a:gd name="adj1" fmla="val 50000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33" name="直接箭头连接符 32"/>
          <p:cNvCxnSpPr>
            <a:stCxn id="10" idx="3"/>
            <a:endCxn id="11" idx="1"/>
          </p:cNvCxnSpPr>
          <p:nvPr/>
        </p:nvCxnSpPr>
        <p:spPr>
          <a:xfrm>
            <a:off x="6800850" y="3171825"/>
            <a:ext cx="1085850" cy="0"/>
          </a:xfrm>
          <a:prstGeom prst="straightConnector1">
            <a:avLst/>
          </a:prstGeom>
          <a:ln w="38100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16" name="圆角矩形 15"/>
          <p:cNvSpPr>
            <a:spLocks noGrp="1"/>
          </p:cNvSpPr>
          <p:nvPr/>
        </p:nvSpPr>
        <p:spPr>
          <a:xfrm>
            <a:off x="3600450" y="4591050"/>
            <a:ext cx="409575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Contracts：Rust 定义 → 生成 TypeScript Client</a:t>
            </a:r>
            <a:endParaRPr sz="112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333750" y="5048250"/>
            <a:ext cx="4629150" cy="2857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Atoms：当前管理 Agent / Skill；后续扩展 MCP 与策略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47800" y="5753100"/>
            <a:ext cx="9296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9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书同文不是让 Agent 变得一样，而是让它们能在同一生产系统中协作。</a:t>
            </a:r>
            <a:endParaRPr sz="19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第一阶段成果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当前代码已形成骨架，演示能力按三档推进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1695450"/>
            <a:ext cx="3429000" cy="3905250"/>
          </a:xfrm>
          <a:prstGeom prst="roundRect">
            <a:avLst>
              <a:gd name="adj" fmla="val 5556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0002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A｜已有代码基础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622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2686050"/>
            <a:ext cx="272415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892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Rust 服务、SQLite、核心领域 CRUD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240405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3164205"/>
            <a:ext cx="272415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14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自动创建 / 回收 linked Worktree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71856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3642360"/>
            <a:ext cx="272415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80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进程树、PTY、结构化日志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914400" y="4196715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23950" y="4120515"/>
            <a:ext cx="272415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86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AppShell、Web / Tauri 同源壳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914400" y="467487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23950" y="4598670"/>
            <a:ext cx="272415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ACP 契约与流式对话状态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885950" y="51054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20344D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已有基础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81500" y="1695450"/>
            <a:ext cx="3429000" cy="390525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9525">
            <a:solidFill>
              <a:srgbClr val="B66A00"/>
            </a:solidFill>
            <a:prstDash val="dash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10100" y="20002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B｜运行链路在接通</a:t>
            </a:r>
            <a:endParaRPr sz="1800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629150" y="2762250"/>
            <a:ext cx="76200" cy="76200"/>
          </a:xfrm>
          <a:prstGeom prst="ellipse">
            <a:avLst/>
          </a:prstGeom>
          <a:solidFill>
            <a:srgbClr val="B66A00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838700" y="2686050"/>
            <a:ext cx="272415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ACP Transport 对接 Agent 运行时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4629150" y="3463925"/>
            <a:ext cx="76200" cy="76200"/>
          </a:xfrm>
          <a:prstGeom prst="ellipse">
            <a:avLst/>
          </a:prstGeom>
          <a:solidFill>
            <a:srgbClr val="B66A00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38700" y="3387725"/>
            <a:ext cx="272415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Desktop 宿主完整装配 Rust 能力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629150" y="4165600"/>
            <a:ext cx="76200" cy="76200"/>
          </a:xfrm>
          <a:prstGeom prst="ellipse">
            <a:avLst/>
          </a:prstGeom>
          <a:solidFill>
            <a:srgbClr val="B66A00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838700" y="4089400"/>
            <a:ext cx="272415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Plugin SDK 从 JSON-RPC 原型走向生命周期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600700" y="51054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联调中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096250" y="1695450"/>
            <a:ext cx="3429000" cy="390525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9525">
            <a:solidFill>
              <a:srgbClr val="C7000B"/>
            </a:solidFill>
            <a:prstDash val="dash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324850" y="2000250"/>
            <a:ext cx="297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C｜试点建设范围</a:t>
            </a:r>
            <a:endParaRPr sz="18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8343900" y="27622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53450" y="2686050"/>
            <a:ext cx="272415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/ Skill / MCP 自动发现与同步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8343900" y="3463925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53450" y="3387725"/>
            <a:ext cx="272415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插件市场、版本、签名与权限治理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8343900" y="416560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4089400"/>
            <a:ext cx="272415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CodeHub / MR / 流水线 / 消息回调闭环</a:t>
            </a:r>
            <a:endParaRPr sz="13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315450" y="51054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 / 试点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524000" y="58674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不把路线图包装成量产能力：当前基础、联调链路、试点目标清晰分层。</a:t>
            </a:r>
            <a:endParaRPr sz="18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两个场景，验证“能管理”与“能交付”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38200" y="1905000"/>
            <a:ext cx="4095750" cy="2857500"/>
          </a:xfrm>
          <a:prstGeom prst="roundRect">
            <a:avLst>
              <a:gd name="adj" fmla="val 7333"/>
            </a:avLst>
          </a:prstGeom>
          <a:solidFill>
            <a:srgbClr val="F4F6F8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00150" y="22098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A</a:t>
            </a:r>
            <a:endParaRPr sz="1500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6860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插件与 Agent 管理</a:t>
            </a:r>
            <a:endParaRPr sz="23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00150" y="3352800"/>
            <a:ext cx="3295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把本地 Agent、配置、Skill、MCP 变成可见、可控、可分发的能力资产</a:t>
            </a:r>
            <a:endParaRPr sz="150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200150" y="4324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验证：能管理</a:t>
            </a:r>
            <a:endParaRPr sz="112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58050" y="1905000"/>
            <a:ext cx="4095750" cy="2857500"/>
          </a:xfrm>
          <a:prstGeom prst="roundRect">
            <a:avLst>
              <a:gd name="adj" fmla="val 7333"/>
            </a:avLst>
          </a:prstGeom>
          <a:solidFill>
            <a:srgbClr val="FCEBEC"/>
          </a:solidFill>
          <a:ln w="19050">
            <a:solidFill>
              <a:srgbClr val="C7000B"/>
            </a:solidFill>
            <a:prstDash val="dash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0" y="22098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B｜试点闭环</a:t>
            </a:r>
            <a:endParaRPr sz="15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0" y="26860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华为开发上库闭环</a:t>
            </a:r>
            <a:endParaRPr sz="23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0" y="3352800"/>
            <a:ext cx="3295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54"/>
          </a:bodyPr>
          <a:lstStyle/>
          <a:p>
            <a:pPr algn="l">
              <a:lnSpc>
                <a:spcPct val="125000"/>
              </a:lnSpc>
              <a:buNone/>
              <a:defRPr sz="157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从编码、本地测试到 CodeHub、MR、流水线、修复、合并与回调。</a:t>
            </a:r>
            <a:endParaRPr sz="1575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620000" y="4324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C7000B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验证：能交付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直接箭头连接符 38"/>
          <p:cNvCxnSpPr>
            <a:stCxn id="7" idx="3"/>
            <a:endCxn id="12" idx="1"/>
          </p:cNvCxnSpPr>
          <p:nvPr/>
        </p:nvCxnSpPr>
        <p:spPr>
          <a:xfrm>
            <a:off x="4933950" y="3333750"/>
            <a:ext cx="2324100" cy="0"/>
          </a:xfrm>
          <a:prstGeom prst="straightConnector1">
            <a:avLst/>
          </a:prstGeom>
          <a:ln w="47625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18" name="矩形 17"/>
          <p:cNvSpPr>
            <a:spLocks noGrp="1"/>
          </p:cNvSpPr>
          <p:nvPr/>
        </p:nvSpPr>
        <p:spPr>
          <a:xfrm>
            <a:off x="5143500" y="29146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纳管能力</a:t>
            </a:r>
            <a:endParaRPr sz="127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15050" y="29146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闭环交付</a:t>
            </a:r>
            <a:endParaRPr sz="12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200150" y="54292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减少跨工具搬运</a:t>
            </a:r>
            <a:endParaRPr sz="11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514850" y="54292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失败回到原 Session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829550" y="54292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 / 日志 / 产物留在同一上下文</a:t>
            </a:r>
            <a:endParaRPr sz="1125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A｜插件与 Agent 管理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安装一个插件，接管一个 Agent 世界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096500" y="142875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试点建设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52450" y="2095500"/>
            <a:ext cx="1143000" cy="666750"/>
          </a:xfrm>
          <a:prstGeom prst="roundRect">
            <a:avLst>
              <a:gd name="adj" fmla="val 17143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 fontScale="96381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插件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菱形 8"/>
          <p:cNvSpPr>
            <a:spLocks noGrp="1"/>
          </p:cNvSpPr>
          <p:nvPr/>
        </p:nvSpPr>
        <p:spPr>
          <a:xfrm>
            <a:off x="2000250" y="2095500"/>
            <a:ext cx="1238250" cy="666750"/>
          </a:xfrm>
          <a:prstGeom prst="diamond">
            <a:avLst/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  <p:txBody>
          <a:bodyPr wrap="square" lIns="95250" tIns="76200" rIns="95250" bIns="76200" anchor="ctr">
            <a:normAutofit fontScale="43119"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Agent</a:t>
            </a:r>
            <a:endParaRPr sz="127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已安装？</a:t>
            </a:r>
            <a:endParaRPr sz="127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952625" y="3333750"/>
            <a:ext cx="1333500" cy="666750"/>
          </a:xfrm>
          <a:prstGeom prst="roundRect">
            <a:avLst>
              <a:gd name="adj" fmla="val 1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否：安装指引</a:t>
            </a:r>
            <a:endParaRPr sz="120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或远程运行时</a:t>
            </a:r>
            <a:endParaRPr sz="120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19500" y="2095500"/>
            <a:ext cx="1238250" cy="666750"/>
          </a:xfrm>
          <a:prstGeom prst="roundRect">
            <a:avLst>
              <a:gd name="adj" fmla="val 17143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是：探测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路径与版本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38750" y="2095500"/>
            <a:ext cx="1238250" cy="666750"/>
          </a:xfrm>
          <a:prstGeom prst="roundRect">
            <a:avLst>
              <a:gd name="adj" fmla="val 17143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读取配置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/ MCP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0" y="209550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dash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资产清单与差异</a:t>
            </a:r>
            <a:endParaRPr sz="1200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会话索引需权限</a:t>
            </a:r>
            <a:endParaRPr sz="1200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67750" y="2095500"/>
            <a:ext cx="1238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用户确认</a:t>
            </a:r>
            <a:endParaRPr sz="12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同步范围</a:t>
            </a:r>
            <a:endParaRPr sz="12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239375" y="17335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 fontScale="99928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 Ora Atoms</a:t>
            </a:r>
            <a:endParaRPr sz="12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项目目录</a:t>
            </a:r>
            <a:endParaRPr sz="12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239375" y="27622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E8F9FB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 fontScale="98391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 Skill / MCP</a:t>
            </a:r>
            <a:endParaRPr sz="12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到目标 Agent</a:t>
            </a:r>
            <a:endParaRPr sz="12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96250" y="400050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统一查看</a:t>
            </a:r>
            <a:endParaRPr sz="12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 · 来源 · 范围</a:t>
            </a:r>
            <a:endParaRPr sz="127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619750" y="400050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Task</a:t>
            </a:r>
            <a:endParaRPr sz="12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自动建 Worktree</a:t>
            </a:r>
            <a:endParaRPr sz="12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143250" y="400050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Agent</a:t>
            </a:r>
            <a:endParaRPr sz="12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Session</a:t>
            </a:r>
            <a:endParaRPr sz="12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57250" y="4000500"/>
            <a:ext cx="1428750" cy="723900"/>
          </a:xfrm>
          <a:prstGeom prst="roundRect">
            <a:avLst>
              <a:gd name="adj" fmla="val 15789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开始对话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直接箭头连接符 55"/>
          <p:cNvCxnSpPr>
            <a:stCxn id="8" idx="3"/>
            <a:endCxn id="9" idx="1"/>
          </p:cNvCxnSpPr>
          <p:nvPr/>
        </p:nvCxnSpPr>
        <p:spPr>
          <a:xfrm>
            <a:off x="1695450" y="2428875"/>
            <a:ext cx="30480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9" idx="2"/>
            <a:endCxn id="10" idx="0"/>
          </p:cNvCxnSpPr>
          <p:nvPr/>
        </p:nvCxnSpPr>
        <p:spPr>
          <a:xfrm>
            <a:off x="2619375" y="2762250"/>
            <a:ext cx="0" cy="571500"/>
          </a:xfrm>
          <a:prstGeom prst="straightConnector1">
            <a:avLst/>
          </a:prstGeom>
          <a:ln w="19050">
            <a:solidFill>
              <a:srgbClr val="B66A00"/>
            </a:solidFill>
            <a:prstDash val="solid"/>
            <a:tailEnd type="triangle" w="sm" len="sm"/>
          </a:ln>
        </p:spPr>
      </p:cxnSp>
      <p:cxnSp>
        <p:nvCxnSpPr>
          <p:cNvPr id="58" name="直接箭头连接符 57"/>
          <p:cNvCxnSpPr>
            <a:stCxn id="9" idx="3"/>
            <a:endCxn id="11" idx="1"/>
          </p:cNvCxnSpPr>
          <p:nvPr/>
        </p:nvCxnSpPr>
        <p:spPr>
          <a:xfrm>
            <a:off x="3238500" y="2428875"/>
            <a:ext cx="38100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11" idx="3"/>
            <a:endCxn id="12" idx="1"/>
          </p:cNvCxnSpPr>
          <p:nvPr/>
        </p:nvCxnSpPr>
        <p:spPr>
          <a:xfrm>
            <a:off x="4857750" y="2428875"/>
            <a:ext cx="38100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12" idx="3"/>
            <a:endCxn id="13" idx="1"/>
          </p:cNvCxnSpPr>
          <p:nvPr/>
        </p:nvCxnSpPr>
        <p:spPr>
          <a:xfrm>
            <a:off x="6477000" y="2428875"/>
            <a:ext cx="381000" cy="0"/>
          </a:xfrm>
          <a:prstGeom prst="straightConnector1">
            <a:avLst/>
          </a:prstGeom>
          <a:ln w="19050">
            <a:solidFill>
              <a:srgbClr val="B66A00"/>
            </a:solidFill>
            <a:prstDash val="dash"/>
            <a:tailEnd type="triangle" w="sm" len="sm"/>
          </a:ln>
        </p:spPr>
      </p:cxnSp>
      <p:cxnSp>
        <p:nvCxnSpPr>
          <p:cNvPr id="61" name="直接箭头连接符 60"/>
          <p:cNvCxnSpPr>
            <a:stCxn id="13" idx="3"/>
            <a:endCxn id="14" idx="1"/>
          </p:cNvCxnSpPr>
          <p:nvPr/>
        </p:nvCxnSpPr>
        <p:spPr>
          <a:xfrm>
            <a:off x="8286750" y="2428875"/>
            <a:ext cx="38100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62" name="肘形连接符 61"/>
          <p:cNvCxnSpPr>
            <a:stCxn id="14" idx="3"/>
            <a:endCxn id="15" idx="1"/>
          </p:cNvCxnSpPr>
          <p:nvPr/>
        </p:nvCxnSpPr>
        <p:spPr>
          <a:xfrm flipV="1">
            <a:off x="9906000" y="2066925"/>
            <a:ext cx="333375" cy="361950"/>
          </a:xfrm>
          <a:prstGeom prst="bentConnector3">
            <a:avLst>
              <a:gd name="adj1" fmla="val 50000"/>
            </a:avLst>
          </a:prstGeom>
          <a:ln w="19050">
            <a:solidFill>
              <a:srgbClr val="1F6FEB"/>
            </a:solidFill>
            <a:prstDash val="solid"/>
            <a:tailEnd type="triangle" w="sm" len="sm"/>
          </a:ln>
        </p:spPr>
      </p:cxnSp>
      <p:cxnSp>
        <p:nvCxnSpPr>
          <p:cNvPr id="63" name="肘形连接符 62"/>
          <p:cNvCxnSpPr>
            <a:stCxn id="14" idx="3"/>
            <a:endCxn id="16" idx="1"/>
          </p:cNvCxnSpPr>
          <p:nvPr/>
        </p:nvCxnSpPr>
        <p:spPr>
          <a:xfrm>
            <a:off x="9906000" y="2428875"/>
            <a:ext cx="333375" cy="666750"/>
          </a:xfrm>
          <a:prstGeom prst="bentConnector3">
            <a:avLst>
              <a:gd name="adj1" fmla="val 50000"/>
            </a:avLst>
          </a:prstGeom>
          <a:ln w="19050">
            <a:solidFill>
              <a:srgbClr val="22BFD3"/>
            </a:solidFill>
            <a:prstDash val="solid"/>
            <a:tailEnd type="triangle" w="sm" len="sm"/>
          </a:ln>
        </p:spPr>
      </p:cxnSp>
      <p:cxnSp>
        <p:nvCxnSpPr>
          <p:cNvPr id="64" name="肘形连接符 63"/>
          <p:cNvCxnSpPr>
            <a:stCxn id="15" idx="2"/>
            <a:endCxn id="17" idx="0"/>
          </p:cNvCxnSpPr>
          <p:nvPr/>
        </p:nvCxnSpPr>
        <p:spPr>
          <a:xfrm flipH="1">
            <a:off x="8905875" y="2400300"/>
            <a:ext cx="2047875" cy="1600200"/>
          </a:xfrm>
          <a:prstGeom prst="bentConnector4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65" name="肘形连接符 64"/>
          <p:cNvCxnSpPr>
            <a:stCxn id="16" idx="2"/>
            <a:endCxn id="17" idx="3"/>
          </p:cNvCxnSpPr>
          <p:nvPr/>
        </p:nvCxnSpPr>
        <p:spPr>
          <a:xfrm flipH="1">
            <a:off x="9715500" y="3429000"/>
            <a:ext cx="1238250" cy="933450"/>
          </a:xfrm>
          <a:prstGeom prst="bentConnector5">
            <a:avLst>
              <a:gd name="adj1" fmla="val 0"/>
              <a:gd name="adj2" fmla="val 24490"/>
              <a:gd name="adj3" fmla="val 81538"/>
            </a:avLst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66" name="直接箭头连接符 65"/>
          <p:cNvCxnSpPr>
            <a:stCxn id="17" idx="1"/>
            <a:endCxn id="18" idx="3"/>
          </p:cNvCxnSpPr>
          <p:nvPr/>
        </p:nvCxnSpPr>
        <p:spPr>
          <a:xfrm flipH="1">
            <a:off x="7239000" y="4362450"/>
            <a:ext cx="85725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67" name="直接箭头连接符 66"/>
          <p:cNvCxnSpPr>
            <a:stCxn id="18" idx="1"/>
            <a:endCxn id="19" idx="3"/>
          </p:cNvCxnSpPr>
          <p:nvPr/>
        </p:nvCxnSpPr>
        <p:spPr>
          <a:xfrm flipH="1">
            <a:off x="4762500" y="4362450"/>
            <a:ext cx="85725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68" name="直接箭头连接符 67"/>
          <p:cNvCxnSpPr>
            <a:stCxn id="19" idx="1"/>
            <a:endCxn id="20" idx="3"/>
          </p:cNvCxnSpPr>
          <p:nvPr/>
        </p:nvCxnSpPr>
        <p:spPr>
          <a:xfrm flipH="1">
            <a:off x="2286000" y="4362450"/>
            <a:ext cx="85725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sp>
        <p:nvSpPr>
          <p:cNvPr id="34" name="圆角矩形 33"/>
          <p:cNvSpPr>
            <a:spLocks noGrp="1"/>
          </p:cNvSpPr>
          <p:nvPr/>
        </p:nvSpPr>
        <p:spPr>
          <a:xfrm>
            <a:off x="2095500" y="5334000"/>
            <a:ext cx="80010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异常可恢复：未安装 / Skill 冲突 / MCP 额外权限 → 展示原因、影响范围和恢复动作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81125" y="5867400"/>
            <a:ext cx="942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过去是人记住每个 Agent 的目录；现在由插件理解差异，Ora 提供统一视图。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矩形 5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B｜华为开发上库闭环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驱动“编码到合入”的自动驾驶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096500" y="142875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88546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试点建设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7716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03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主链路</a:t>
            </a:r>
            <a:endParaRPr sz="1200" b="1">
              <a:solidFill>
                <a:srgbClr val="203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42481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失败回路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52450" y="2152650"/>
            <a:ext cx="10096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确认需求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771650" y="2152650"/>
            <a:ext cx="100965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3968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Agent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990850" y="2152650"/>
            <a:ext cx="112395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挂载华为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上库 Skill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24350" y="2152650"/>
            <a:ext cx="1200150" cy="590550"/>
          </a:xfrm>
          <a:prstGeom prst="roundRect">
            <a:avLst>
              <a:gd name="adj" fmla="val 19355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 fontScale="93917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+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 Worktree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734050" y="2152650"/>
            <a:ext cx="104775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6359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编码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991350" y="2152650"/>
            <a:ext cx="110490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本地测试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格式检查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05800" y="2152650"/>
            <a:ext cx="1104900" cy="590550"/>
          </a:xfrm>
          <a:prstGeom prst="roundRect">
            <a:avLst>
              <a:gd name="adj" fmla="val 19355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本地门禁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通过？</a:t>
            </a:r>
            <a:endParaRPr sz="1125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620250" y="2152650"/>
            <a:ext cx="135255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8177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 + Push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 CodeHub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直接箭头连接符 67"/>
          <p:cNvCxnSpPr>
            <a:stCxn id="10" idx="3"/>
            <a:endCxn id="11" idx="1"/>
          </p:cNvCxnSpPr>
          <p:nvPr/>
        </p:nvCxnSpPr>
        <p:spPr>
          <a:xfrm>
            <a:off x="156210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69" name="直接箭头连接符 68"/>
          <p:cNvCxnSpPr>
            <a:stCxn id="11" idx="3"/>
            <a:endCxn id="12" idx="1"/>
          </p:cNvCxnSpPr>
          <p:nvPr/>
        </p:nvCxnSpPr>
        <p:spPr>
          <a:xfrm>
            <a:off x="278130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0" name="直接箭头连接符 69"/>
          <p:cNvCxnSpPr>
            <a:stCxn id="12" idx="3"/>
            <a:endCxn id="13" idx="1"/>
          </p:cNvCxnSpPr>
          <p:nvPr/>
        </p:nvCxnSpPr>
        <p:spPr>
          <a:xfrm>
            <a:off x="411480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1" name="直接箭头连接符 70"/>
          <p:cNvCxnSpPr>
            <a:stCxn id="13" idx="3"/>
            <a:endCxn id="14" idx="1"/>
          </p:cNvCxnSpPr>
          <p:nvPr/>
        </p:nvCxnSpPr>
        <p:spPr>
          <a:xfrm>
            <a:off x="552450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2" name="直接箭头连接符 71"/>
          <p:cNvCxnSpPr>
            <a:stCxn id="14" idx="3"/>
            <a:endCxn id="15" idx="1"/>
          </p:cNvCxnSpPr>
          <p:nvPr/>
        </p:nvCxnSpPr>
        <p:spPr>
          <a:xfrm>
            <a:off x="678180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3" name="直接箭头连接符 72"/>
          <p:cNvCxnSpPr>
            <a:stCxn id="15" idx="3"/>
            <a:endCxn id="16" idx="1"/>
          </p:cNvCxnSpPr>
          <p:nvPr/>
        </p:nvCxnSpPr>
        <p:spPr>
          <a:xfrm>
            <a:off x="809625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4" name="直接箭头连接符 73"/>
          <p:cNvCxnSpPr>
            <a:stCxn id="16" idx="3"/>
            <a:endCxn id="17" idx="1"/>
          </p:cNvCxnSpPr>
          <p:nvPr/>
        </p:nvCxnSpPr>
        <p:spPr>
          <a:xfrm>
            <a:off x="9410700" y="2447925"/>
            <a:ext cx="20955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5" name="肘形连接符 74"/>
          <p:cNvCxnSpPr>
            <a:stCxn id="16" idx="2"/>
            <a:endCxn id="14" idx="2"/>
          </p:cNvCxnSpPr>
          <p:nvPr/>
        </p:nvCxnSpPr>
        <p:spPr>
          <a:xfrm flipH="1">
            <a:off x="6257925" y="2743200"/>
            <a:ext cx="2600325" cy="228600"/>
          </a:xfrm>
          <a:prstGeom prst="bentConnector4">
            <a:avLst/>
          </a:prstGeom>
          <a:ln w="19050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26" name="矩形 25"/>
          <p:cNvSpPr>
            <a:spLocks noGrp="1"/>
          </p:cNvSpPr>
          <p:nvPr/>
        </p:nvSpPr>
        <p:spPr>
          <a:xfrm>
            <a:off x="7124700" y="29718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否：继续修复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620250" y="3333750"/>
            <a:ext cx="135255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 fontScale="95839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MR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类似 Pull Request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962900" y="3333750"/>
            <a:ext cx="1390650" cy="590550"/>
          </a:xfrm>
          <a:prstGeom prst="roundRect">
            <a:avLst>
              <a:gd name="adj" fmla="val 19355"/>
            </a:avLst>
          </a:prstGeom>
          <a:solidFill>
            <a:srgbClr val="20344D"/>
          </a:solidFill>
          <a:ln w="9525">
            <a:solidFill>
              <a:srgbClr val="20344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 合并流水线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343650" y="3333750"/>
            <a:ext cx="1352550" cy="590550"/>
          </a:xfrm>
          <a:prstGeom prst="roundRect">
            <a:avLst>
              <a:gd name="adj" fmla="val 19355"/>
            </a:avLst>
          </a:prstGeom>
          <a:solidFill>
            <a:srgbClr val="FFF4DF"/>
          </a:solidFill>
          <a:ln w="9525">
            <a:solidFill>
              <a:srgbClr val="B66A00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 / 流水线</a:t>
            </a:r>
            <a:endParaRPr sz="1050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6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通过？</a:t>
            </a:r>
            <a:endParaRPr sz="1050" b="1">
              <a:solidFill>
                <a:srgbClr val="B6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686300" y="3333750"/>
            <a:ext cx="13906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 Committer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/ 合并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333750" y="3333750"/>
            <a:ext cx="1085850" cy="590550"/>
          </a:xfrm>
          <a:prstGeom prst="roundRect">
            <a:avLst>
              <a:gd name="adj" fmla="val 19355"/>
            </a:avLst>
          </a:prstGeom>
          <a:solidFill>
            <a:srgbClr val="14805E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代码合并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790700" y="3333750"/>
            <a:ext cx="1276350" cy="590550"/>
          </a:xfrm>
          <a:prstGeom prst="roundRect">
            <a:avLst>
              <a:gd name="adj" fmla="val 19355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 fontScale="97054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 Ora</a:t>
            </a:r>
            <a:endParaRPr sz="10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 / MR / 产物</a:t>
            </a:r>
            <a:endParaRPr sz="10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00050" y="3333750"/>
            <a:ext cx="1143000" cy="590550"/>
          </a:xfrm>
          <a:prstGeom prst="roundRect">
            <a:avLst>
              <a:gd name="adj" fmla="val 19355"/>
            </a:avLst>
          </a:prstGeom>
          <a:solidFill>
            <a:srgbClr val="14805E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完成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可追溯沉淀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直接箭头连接符 83"/>
          <p:cNvCxnSpPr>
            <a:stCxn id="17" idx="2"/>
            <a:endCxn id="27" idx="0"/>
          </p:cNvCxnSpPr>
          <p:nvPr/>
        </p:nvCxnSpPr>
        <p:spPr>
          <a:xfrm>
            <a:off x="10296525" y="2743200"/>
            <a:ext cx="0" cy="59055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85" name="直接箭头连接符 84"/>
          <p:cNvCxnSpPr>
            <a:stCxn id="27" idx="1"/>
            <a:endCxn id="28" idx="3"/>
          </p:cNvCxnSpPr>
          <p:nvPr/>
        </p:nvCxnSpPr>
        <p:spPr>
          <a:xfrm flipH="1">
            <a:off x="9353550" y="3629025"/>
            <a:ext cx="26670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86" name="直接箭头连接符 85"/>
          <p:cNvCxnSpPr>
            <a:stCxn id="28" idx="1"/>
            <a:endCxn id="29" idx="3"/>
          </p:cNvCxnSpPr>
          <p:nvPr/>
        </p:nvCxnSpPr>
        <p:spPr>
          <a:xfrm flipH="1">
            <a:off x="7696200" y="3629025"/>
            <a:ext cx="266700" cy="0"/>
          </a:xfrm>
          <a:prstGeom prst="straightConnector1">
            <a:avLst/>
          </a:prstGeom>
          <a:ln w="19050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87" name="直接箭头连接符 86"/>
          <p:cNvCxnSpPr>
            <a:stCxn id="29" idx="1"/>
            <a:endCxn id="30" idx="3"/>
          </p:cNvCxnSpPr>
          <p:nvPr/>
        </p:nvCxnSpPr>
        <p:spPr>
          <a:xfrm flipH="1">
            <a:off x="6076950" y="3629025"/>
            <a:ext cx="26670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88" name="直接箭头连接符 87"/>
          <p:cNvCxnSpPr>
            <a:stCxn id="30" idx="1"/>
            <a:endCxn id="31" idx="3"/>
          </p:cNvCxnSpPr>
          <p:nvPr/>
        </p:nvCxnSpPr>
        <p:spPr>
          <a:xfrm flipH="1">
            <a:off x="4419600" y="3629025"/>
            <a:ext cx="26670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89" name="直接箭头连接符 88"/>
          <p:cNvCxnSpPr>
            <a:stCxn id="31" idx="1"/>
            <a:endCxn id="32" idx="3"/>
          </p:cNvCxnSpPr>
          <p:nvPr/>
        </p:nvCxnSpPr>
        <p:spPr>
          <a:xfrm flipH="1">
            <a:off x="3067050" y="3629025"/>
            <a:ext cx="26670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90" name="直接箭头连接符 89"/>
          <p:cNvCxnSpPr>
            <a:stCxn id="32" idx="1"/>
            <a:endCxn id="33" idx="3"/>
          </p:cNvCxnSpPr>
          <p:nvPr/>
        </p:nvCxnSpPr>
        <p:spPr>
          <a:xfrm flipH="1">
            <a:off x="1543050" y="3629025"/>
            <a:ext cx="247650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  <p:sp>
        <p:nvSpPr>
          <p:cNvPr id="41" name="圆角矩形 40"/>
          <p:cNvSpPr>
            <a:spLocks noGrp="1"/>
          </p:cNvSpPr>
          <p:nvPr/>
        </p:nvSpPr>
        <p:spPr>
          <a:xfrm>
            <a:off x="6305550" y="4552950"/>
            <a:ext cx="1390650" cy="590550"/>
          </a:xfrm>
          <a:prstGeom prst="roundRect">
            <a:avLst>
              <a:gd name="adj" fmla="val 19355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 Ora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失败原因 + 日志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4667250" y="4552950"/>
            <a:ext cx="1390650" cy="590550"/>
          </a:xfrm>
          <a:prstGeom prst="roundRect">
            <a:avLst>
              <a:gd name="adj" fmla="val 19355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恢复原 Session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Worktree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3028950" y="4552950"/>
            <a:ext cx="1390650" cy="590550"/>
          </a:xfrm>
          <a:prstGeom prst="roundRect">
            <a:avLst>
              <a:gd name="adj" fmla="val 19355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按 Skill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修复并重测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4" name="肘形连接符 93"/>
          <p:cNvCxnSpPr>
            <a:stCxn id="29" idx="2"/>
            <a:endCxn id="41" idx="0"/>
          </p:cNvCxnSpPr>
          <p:nvPr/>
        </p:nvCxnSpPr>
        <p:spPr>
          <a:xfrm flipH="1">
            <a:off x="7000875" y="3924300"/>
            <a:ext cx="19050" cy="6286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95" name="直接箭头连接符 94"/>
          <p:cNvCxnSpPr>
            <a:stCxn id="41" idx="1"/>
            <a:endCxn id="42" idx="3"/>
          </p:cNvCxnSpPr>
          <p:nvPr/>
        </p:nvCxnSpPr>
        <p:spPr>
          <a:xfrm flipH="1">
            <a:off x="6057900" y="4848225"/>
            <a:ext cx="247650" cy="0"/>
          </a:xfrm>
          <a:prstGeom prst="straightConnector1">
            <a:avLst/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96" name="直接箭头连接符 95"/>
          <p:cNvCxnSpPr>
            <a:stCxn id="42" idx="1"/>
            <a:endCxn id="43" idx="3"/>
          </p:cNvCxnSpPr>
          <p:nvPr/>
        </p:nvCxnSpPr>
        <p:spPr>
          <a:xfrm flipH="1">
            <a:off x="4419600" y="4848225"/>
            <a:ext cx="247650" cy="0"/>
          </a:xfrm>
          <a:prstGeom prst="straightConnector1">
            <a:avLst/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97" name="肘形连接符 96"/>
          <p:cNvCxnSpPr>
            <a:stCxn id="43" idx="0"/>
            <a:endCxn id="17" idx="2"/>
          </p:cNvCxnSpPr>
          <p:nvPr/>
        </p:nvCxnSpPr>
        <p:spPr>
          <a:xfrm flipV="1">
            <a:off x="3724275" y="2743200"/>
            <a:ext cx="6572250" cy="1809750"/>
          </a:xfrm>
          <a:prstGeom prst="bentConnector4">
            <a:avLst/>
          </a:prstGeom>
          <a:ln w="28575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48" name="矩形 47"/>
          <p:cNvSpPr>
            <a:spLocks noGrp="1"/>
          </p:cNvSpPr>
          <p:nvPr/>
        </p:nvSpPr>
        <p:spPr>
          <a:xfrm>
            <a:off x="2381250" y="52959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格式问题 / 测试失败 / 评审需修改，都回到原上下文继续执行</a:t>
            </a:r>
            <a:endParaRPr sz="15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848600" y="577215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CodeHub：华为内部代码托管</a:t>
            </a:r>
            <a:endParaRPr sz="105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314450" y="6115050"/>
            <a:ext cx="956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人负责意图与决策｜Ora 负责上下文与编排｜Agent 负责执行｜平台门禁负责质量</a:t>
            </a:r>
            <a:endParaRPr sz="13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矩形 7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职责与治理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失败不是终点，而是回到原上下文继续执行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695450" y="1524000"/>
            <a:ext cx="1504950" cy="4191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任务启动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257550" y="1524000"/>
            <a:ext cx="1504950" cy="4191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编码与门禁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819650" y="1524000"/>
            <a:ext cx="1504950" cy="4191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 / MR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81750" y="1524000"/>
            <a:ext cx="1504950" cy="4191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流水线失败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943850" y="1524000"/>
            <a:ext cx="1504950" cy="4191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合并决策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505950" y="1524000"/>
            <a:ext cx="1504950" cy="4191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闭环沉淀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14350" y="2076450"/>
            <a:ext cx="1123950" cy="742950"/>
          </a:xfrm>
          <a:prstGeom prst="roundRect">
            <a:avLst>
              <a:gd name="adj" fmla="val 10256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开发者 / Committer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95450" y="2076450"/>
            <a:ext cx="9315450" cy="74295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3257550" y="20764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4819650" y="20764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381750" y="20764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943850" y="20764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9505950" y="20764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514350" y="2952750"/>
            <a:ext cx="1123950" cy="742950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</a:t>
            </a:r>
            <a:endParaRPr sz="112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95450" y="2952750"/>
            <a:ext cx="9315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3257550" y="29527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819650" y="29527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381750" y="29527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7943850" y="29527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9505950" y="29527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514350" y="3829050"/>
            <a:ext cx="1123950" cy="742950"/>
          </a:xfrm>
          <a:prstGeom prst="roundRect">
            <a:avLst>
              <a:gd name="adj" fmla="val 10256"/>
            </a:avLst>
          </a:prstGeom>
          <a:solidFill>
            <a:srgbClr val="E8F9FB"/>
          </a:solidFill>
          <a:ln w="9525">
            <a:solidFill>
              <a:srgbClr val="0B7E8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插件</a:t>
            </a:r>
            <a:endParaRPr sz="112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95450" y="3829050"/>
            <a:ext cx="9315450" cy="74295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3257550" y="38290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4819650" y="38290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381750" y="38290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7943850" y="38290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9505950" y="38290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514350" y="4705350"/>
            <a:ext cx="1123950" cy="742950"/>
          </a:xfrm>
          <a:prstGeom prst="roundRect">
            <a:avLst>
              <a:gd name="adj" fmla="val 10256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CodeHub / 流水线</a:t>
            </a:r>
            <a:endParaRPr sz="112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695450" y="4705350"/>
            <a:ext cx="9315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3257550" y="47053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4819650" y="47053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6381750" y="47053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7943850" y="47053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9505950" y="4705350"/>
            <a:ext cx="0" cy="74295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790700" y="21621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提需求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 Agent / Skill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1790700" y="30384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 fontScale="93496"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 Task / Worktree</a:t>
            </a:r>
            <a:endParaRPr sz="97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加载上下文</a:t>
            </a:r>
            <a:endParaRPr sz="97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1790700" y="39147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 / 恢复</a:t>
            </a:r>
            <a:endParaRPr sz="97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Session</a:t>
            </a:r>
            <a:endParaRPr sz="97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3352800" y="30384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1F6F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 / 日志</a:t>
            </a:r>
            <a:endParaRPr sz="97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 / 状态</a:t>
            </a:r>
            <a:endParaRPr sz="975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3352800" y="39147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 / 测试</a:t>
            </a:r>
            <a:endParaRPr sz="97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格式检查</a:t>
            </a:r>
            <a:endParaRPr sz="97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914900" y="39147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22BFD3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 / Push</a:t>
            </a:r>
            <a:endParaRPr sz="97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B7E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MR</a:t>
            </a:r>
            <a:endParaRPr sz="975" b="1">
              <a:solidFill>
                <a:srgbClr val="0B7E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914900" y="47910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接收代码</a:t>
            </a:r>
            <a:endParaRPr sz="9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MR</a:t>
            </a:r>
            <a:endParaRPr sz="9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477000" y="47910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扫描失败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触发重跑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477000" y="30384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回调绑定原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/ Session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477000" y="39147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读日志 / 修复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 Push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8039100" y="21621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Committer 审核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批准合并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8039100" y="47910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合并门禁</a:t>
            </a:r>
            <a:endParaRPr sz="9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代码合并</a:t>
            </a:r>
            <a:endParaRPr sz="9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9601200" y="30384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回写状态 / MR</a:t>
            </a:r>
            <a:endParaRPr sz="9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日志与产物</a:t>
            </a:r>
            <a:endParaRPr sz="975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9601200" y="2162175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查看结果</a:t>
            </a:r>
            <a:endParaRPr sz="97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5" name="直接箭头连接符 124"/>
          <p:cNvCxnSpPr>
            <a:stCxn id="41" idx="2"/>
            <a:endCxn id="42" idx="0"/>
          </p:cNvCxnSpPr>
          <p:nvPr/>
        </p:nvCxnSpPr>
        <p:spPr>
          <a:xfrm>
            <a:off x="2457450" y="2714625"/>
            <a:ext cx="0" cy="32385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6" name="直接箭头连接符 125"/>
          <p:cNvCxnSpPr>
            <a:stCxn id="42" idx="2"/>
            <a:endCxn id="43" idx="0"/>
          </p:cNvCxnSpPr>
          <p:nvPr/>
        </p:nvCxnSpPr>
        <p:spPr>
          <a:xfrm>
            <a:off x="2457450" y="3590925"/>
            <a:ext cx="0" cy="32385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7" name="直接箭头连接符 126"/>
          <p:cNvCxnSpPr>
            <a:stCxn id="43" idx="3"/>
            <a:endCxn id="45" idx="1"/>
          </p:cNvCxnSpPr>
          <p:nvPr/>
        </p:nvCxnSpPr>
        <p:spPr>
          <a:xfrm>
            <a:off x="3124200" y="4191000"/>
            <a:ext cx="228600" cy="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8" name="直接箭头连接符 127"/>
          <p:cNvCxnSpPr>
            <a:stCxn id="44" idx="2"/>
            <a:endCxn id="45" idx="0"/>
          </p:cNvCxnSpPr>
          <p:nvPr/>
        </p:nvCxnSpPr>
        <p:spPr>
          <a:xfrm>
            <a:off x="4019550" y="3590925"/>
            <a:ext cx="0" cy="32385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29" name="直接箭头连接符 128"/>
          <p:cNvCxnSpPr>
            <a:stCxn id="45" idx="3"/>
            <a:endCxn id="46" idx="1"/>
          </p:cNvCxnSpPr>
          <p:nvPr/>
        </p:nvCxnSpPr>
        <p:spPr>
          <a:xfrm>
            <a:off x="4686300" y="4191000"/>
            <a:ext cx="228600" cy="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30" name="直接箭头连接符 129"/>
          <p:cNvCxnSpPr>
            <a:stCxn id="46" idx="2"/>
            <a:endCxn id="47" idx="0"/>
          </p:cNvCxnSpPr>
          <p:nvPr/>
        </p:nvCxnSpPr>
        <p:spPr>
          <a:xfrm>
            <a:off x="5581650" y="4467225"/>
            <a:ext cx="0" cy="323850"/>
          </a:xfrm>
          <a:prstGeom prst="straightConnector1">
            <a:avLst/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31" name="直接箭头连接符 130"/>
          <p:cNvCxnSpPr>
            <a:stCxn id="47" idx="3"/>
            <a:endCxn id="48" idx="1"/>
          </p:cNvCxnSpPr>
          <p:nvPr/>
        </p:nvCxnSpPr>
        <p:spPr>
          <a:xfrm>
            <a:off x="6248400" y="5067300"/>
            <a:ext cx="228600" cy="0"/>
          </a:xfrm>
          <a:prstGeom prst="straightConnector1">
            <a:avLst/>
          </a:prstGeom>
          <a:ln w="23813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132" name="直接箭头连接符 131"/>
          <p:cNvCxnSpPr>
            <a:stCxn id="48" idx="0"/>
            <a:endCxn id="49" idx="2"/>
          </p:cNvCxnSpPr>
          <p:nvPr/>
        </p:nvCxnSpPr>
        <p:spPr>
          <a:xfrm flipV="1">
            <a:off x="7143750" y="3590925"/>
            <a:ext cx="0" cy="1200150"/>
          </a:xfrm>
          <a:prstGeom prst="straightConnector1">
            <a:avLst/>
          </a:prstGeom>
          <a:ln w="23813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133" name="直接箭头连接符 132"/>
          <p:cNvCxnSpPr>
            <a:stCxn id="49" idx="2"/>
            <a:endCxn id="50" idx="0"/>
          </p:cNvCxnSpPr>
          <p:nvPr/>
        </p:nvCxnSpPr>
        <p:spPr>
          <a:xfrm>
            <a:off x="7143750" y="3590925"/>
            <a:ext cx="0" cy="323850"/>
          </a:xfrm>
          <a:prstGeom prst="straightConnector1">
            <a:avLst/>
          </a:prstGeom>
          <a:ln w="23813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134" name="直接箭头连接符 133"/>
          <p:cNvCxnSpPr>
            <a:stCxn id="50" idx="1"/>
            <a:endCxn id="46" idx="3"/>
          </p:cNvCxnSpPr>
          <p:nvPr/>
        </p:nvCxnSpPr>
        <p:spPr>
          <a:xfrm flipH="1">
            <a:off x="6248400" y="4191000"/>
            <a:ext cx="228600" cy="0"/>
          </a:xfrm>
          <a:prstGeom prst="straightConnector1">
            <a:avLst/>
          </a:prstGeom>
          <a:ln w="23813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135" name="肘形连接符 134"/>
          <p:cNvCxnSpPr>
            <a:stCxn id="50" idx="0"/>
            <a:endCxn id="51" idx="1"/>
          </p:cNvCxnSpPr>
          <p:nvPr/>
        </p:nvCxnSpPr>
        <p:spPr>
          <a:xfrm flipV="1">
            <a:off x="7143750" y="2438400"/>
            <a:ext cx="895350" cy="1476375"/>
          </a:xfrm>
          <a:prstGeom prst="bentConnector3">
            <a:avLst>
              <a:gd name="adj1" fmla="val 0"/>
            </a:avLst>
          </a:prstGeom>
          <a:ln w="14288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136" name="直接箭头连接符 135"/>
          <p:cNvCxnSpPr>
            <a:stCxn id="51" idx="2"/>
            <a:endCxn id="52" idx="0"/>
          </p:cNvCxnSpPr>
          <p:nvPr/>
        </p:nvCxnSpPr>
        <p:spPr>
          <a:xfrm>
            <a:off x="8705850" y="2714625"/>
            <a:ext cx="0" cy="2076450"/>
          </a:xfrm>
          <a:prstGeom prst="straightConnector1">
            <a:avLst/>
          </a:prstGeom>
          <a:ln w="23813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137" name="肘形连接符 136"/>
          <p:cNvCxnSpPr>
            <a:stCxn id="52" idx="3"/>
            <a:endCxn id="53" idx="1"/>
          </p:cNvCxnSpPr>
          <p:nvPr/>
        </p:nvCxnSpPr>
        <p:spPr>
          <a:xfrm flipV="1">
            <a:off x="9372600" y="3314700"/>
            <a:ext cx="228600" cy="1752600"/>
          </a:xfrm>
          <a:prstGeom prst="bentConnector3">
            <a:avLst>
              <a:gd name="adj1" fmla="val 50000"/>
            </a:avLst>
          </a:prstGeom>
          <a:ln w="23813">
            <a:solidFill>
              <a:srgbClr val="14805E"/>
            </a:solidFill>
            <a:prstDash val="solid"/>
            <a:tailEnd type="triangle" w="sm" len="sm"/>
          </a:ln>
        </p:spPr>
      </p:cxnSp>
      <p:cxnSp>
        <p:nvCxnSpPr>
          <p:cNvPr id="138" name="直接箭头连接符 137"/>
          <p:cNvCxnSpPr>
            <a:stCxn id="53" idx="0"/>
            <a:endCxn id="54" idx="2"/>
          </p:cNvCxnSpPr>
          <p:nvPr/>
        </p:nvCxnSpPr>
        <p:spPr>
          <a:xfrm flipV="1">
            <a:off x="10267950" y="2714625"/>
            <a:ext cx="0" cy="323850"/>
          </a:xfrm>
          <a:prstGeom prst="straightConnector1">
            <a:avLst/>
          </a:prstGeom>
          <a:ln w="23813">
            <a:solidFill>
              <a:srgbClr val="14805E"/>
            </a:solidFill>
            <a:prstDash val="solid"/>
            <a:tailEnd type="triangle" w="sm" len="sm"/>
          </a:ln>
        </p:spPr>
      </p:cxnSp>
      <p:sp>
        <p:nvSpPr>
          <p:cNvPr id="69" name="圆角矩形 68"/>
          <p:cNvSpPr>
            <a:spLocks noGrp="1"/>
          </p:cNvSpPr>
          <p:nvPr/>
        </p:nvSpPr>
        <p:spPr>
          <a:xfrm>
            <a:off x="1714500" y="5753100"/>
            <a:ext cx="866775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9487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回调必须携带：Project / Task / MR / Commit / Pipeline / 失败类型 / 日志地址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809750" y="61341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自动化不绕过人工合并门禁；人从操作员转为意图与决策负责人。</a:t>
            </a:r>
            <a:endParaRPr sz="13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价值衡量</a:t>
            </a:r>
            <a:endParaRPr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 的价值要用研发结果衡量，而不是用对话次数衡量</a:t>
            </a:r>
            <a:endParaRPr sz="315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69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0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714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16764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连续性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057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跨工具切换、复制粘贴次数</a:t>
            </a:r>
            <a:endParaRPr sz="135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238250" y="2552700"/>
            <a:ext cx="447675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15050" y="1714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0" y="16764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交付效率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0" y="2057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需求→MR、MR→合入周期</a:t>
            </a:r>
            <a:endParaRPr sz="135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667500" y="2552700"/>
            <a:ext cx="447675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2762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38250" y="27241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自动闭环率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38250" y="310515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失败后无需人工搬运日志的修复比例</a:t>
            </a:r>
            <a:endParaRPr sz="135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1238250" y="3600450"/>
            <a:ext cx="447675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115050" y="2762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27241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并行度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310515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Task / Worktree 数与污染事件</a:t>
            </a:r>
            <a:endParaRPr sz="135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667500" y="3600450"/>
            <a:ext cx="447675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38100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38250" y="3771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资产复用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38250" y="41529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/ MCP 复用、配置时间、版本一致</a:t>
            </a:r>
            <a:endParaRPr sz="135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238250" y="4648200"/>
            <a:ext cx="447675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15050" y="38100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65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0" y="3771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质量与治理</a:t>
            </a:r>
            <a:endParaRPr sz="1725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0" y="41529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门禁通过、MR 一次通过、审计完整</a:t>
            </a:r>
            <a:endParaRPr sz="1350" b="0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6667500" y="4648200"/>
            <a:ext cx="447675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095500" y="491490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先建立基线，再用试点数据决定是否扩面</a:t>
            </a:r>
            <a:endParaRPr sz="2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905000" y="55054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4F6F8"/>
          </a:solidFill>
          <a:ln w="9525">
            <a:solidFill>
              <a:srgbClr val="D9DEE7"/>
            </a:solidFill>
            <a:prstDash val="solid"/>
          </a:ln>
        </p:spPr>
        <p:txBody>
          <a:bodyPr wrap="square" lIns="95250" tIns="76200" rIns="95250" bIns="76200" anchor="ctr">
            <a:normAutofit fontScale="90607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sz="150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6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记录当前流程</a:t>
            </a:r>
            <a:endParaRPr sz="1500" b="1">
              <a:solidFill>
                <a:srgbClr val="46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095875" y="55054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CEBEC"/>
          </a:solidFill>
          <a:ln w="9525">
            <a:solidFill>
              <a:srgbClr val="C7000B"/>
            </a:solidFill>
            <a:prstDash val="solid"/>
          </a:ln>
        </p:spPr>
        <p:txBody>
          <a:bodyPr wrap="square" lIns="95250" tIns="76200" rIns="95250" bIns="76200" anchor="ctr">
            <a:normAutofit fontScale="90607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</a:t>
            </a:r>
            <a:endParaRPr sz="15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同口径采集</a:t>
            </a:r>
            <a:endParaRPr sz="15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8286750" y="55054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7F5EF"/>
          </a:solidFill>
          <a:ln w="9525">
            <a:solidFill>
              <a:srgbClr val="14805E"/>
            </a:solidFill>
            <a:prstDash val="solid"/>
          </a:ln>
        </p:spPr>
        <p:txBody>
          <a:bodyPr wrap="square" lIns="95250" tIns="76200" rIns="95250" bIns="76200" anchor="ctr">
            <a:normAutofit fontScale="90607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endParaRPr sz="15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以数据决定扩面</a:t>
            </a:r>
            <a:endParaRPr sz="15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直接箭头连接符 70"/>
          <p:cNvCxnSpPr>
            <a:stCxn id="32" idx="3"/>
            <a:endCxn id="33" idx="1"/>
          </p:cNvCxnSpPr>
          <p:nvPr/>
        </p:nvCxnSpPr>
        <p:spPr>
          <a:xfrm>
            <a:off x="3905250" y="5838825"/>
            <a:ext cx="1190625" cy="0"/>
          </a:xfrm>
          <a:prstGeom prst="straightConnector1">
            <a:avLst/>
          </a:prstGeom>
          <a:ln w="28575">
            <a:solidFill>
              <a:srgbClr val="465569"/>
            </a:solidFill>
            <a:prstDash val="solid"/>
            <a:tailEnd type="triangle" w="sm" len="sm"/>
          </a:ln>
        </p:spPr>
      </p:cxnSp>
      <p:cxnSp>
        <p:nvCxnSpPr>
          <p:cNvPr id="72" name="直接箭头连接符 71"/>
          <p:cNvCxnSpPr>
            <a:stCxn id="33" idx="3"/>
            <a:endCxn id="34" idx="1"/>
          </p:cNvCxnSpPr>
          <p:nvPr/>
        </p:nvCxnSpPr>
        <p:spPr>
          <a:xfrm>
            <a:off x="7096125" y="5838825"/>
            <a:ext cx="1190625" cy="0"/>
          </a:xfrm>
          <a:prstGeom prst="straightConnector1">
            <a:avLst/>
          </a:prstGeom>
          <a:ln w="28575">
            <a:solidFill>
              <a:srgbClr val="14805E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3429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决策请求</a:t>
            </a:r>
            <a:endParaRPr sz="1200" b="1">
              <a:solidFill>
                <a:srgbClr val="F1B5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286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先跑通一条闭环，再复制成企业级 Agent 生产线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8650" y="1276350"/>
            <a:ext cx="10934700" cy="0"/>
          </a:xfrm>
          <a:prstGeom prst="line">
            <a:avLst/>
          </a:prstGeom>
          <a:noFill/>
          <a:ln w="9525">
            <a:solidFill>
              <a:srgbClr val="40536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8F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F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内部汇报材料｜Ora 第一阶段成果</a:t>
            </a:r>
            <a:endParaRPr sz="900" b="0">
              <a:solidFill>
                <a:srgbClr val="8F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0140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086850" y="142875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 fontScale="58283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决策：批准聚焦试点</a:t>
            </a:r>
            <a:endParaRPr sz="1125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2000250"/>
            <a:ext cx="2952750" cy="2000250"/>
          </a:xfrm>
          <a:prstGeom prst="roundRect">
            <a:avLst>
              <a:gd name="adj" fmla="val 8571"/>
            </a:avLst>
          </a:prstGeom>
          <a:solidFill>
            <a:srgbClr val="263B54"/>
          </a:solidFill>
          <a:ln w="9525">
            <a:solidFill>
              <a:srgbClr val="60758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2288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F1B5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667000"/>
            <a:ext cx="2495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96"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跑通底座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3200400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59"/>
          </a:bodyPr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ACP Transport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插件生命周期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发现与会话接入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657600" y="3000375"/>
            <a:ext cx="323850" cy="0"/>
          </a:xfrm>
          <a:prstGeom prst="line">
            <a:avLst/>
          </a:prstGeom>
          <a:noFill/>
          <a:ln w="47625">
            <a:solidFill>
              <a:srgbClr val="C7000B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133850" y="2000250"/>
            <a:ext cx="3143250" cy="2000250"/>
          </a:xfrm>
          <a:prstGeom prst="roundRect">
            <a:avLst>
              <a:gd name="adj" fmla="val 8571"/>
            </a:avLst>
          </a:prstGeom>
          <a:solidFill>
            <a:srgbClr val="334A64"/>
          </a:solidFill>
          <a:ln w="9525">
            <a:solidFill>
              <a:srgbClr val="60758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362450" y="22288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F1B5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62450" y="2667000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96"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跑通闭环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62450" y="3200400"/>
            <a:ext cx="2686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59"/>
          </a:bodyPr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OpenCode + Claude Code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华为上库 Skill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CodeHub / MR / 流水线回调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277100" y="3000375"/>
            <a:ext cx="323850" cy="0"/>
          </a:xfrm>
          <a:prstGeom prst="line">
            <a:avLst/>
          </a:prstGeom>
          <a:noFill/>
          <a:ln w="47625">
            <a:solidFill>
              <a:srgbClr val="C7000B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562850" y="2000250"/>
            <a:ext cx="3333750" cy="2000250"/>
          </a:xfrm>
          <a:prstGeom prst="roundRect">
            <a:avLst>
              <a:gd name="adj" fmla="val 8571"/>
            </a:avLst>
          </a:prstGeom>
          <a:solidFill>
            <a:srgbClr val="415B76"/>
          </a:solidFill>
          <a:ln w="9525">
            <a:solidFill>
              <a:srgbClr val="60758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791450" y="22288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1B5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F1B5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91450" y="2667000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96"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形成平台</a:t>
            </a:r>
            <a:endParaRPr sz="21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791450" y="3200400"/>
            <a:ext cx="2876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59"/>
          </a:bodyPr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插件市场与资产治理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 / 签名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8000"/>
              </a:lnSpc>
              <a:buNone/>
              <a:def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5DE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 Workbench 与工作流</a:t>
            </a:r>
            <a:endParaRPr sz="1275" b="0">
              <a:solidFill>
                <a:srgbClr val="D5DE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4850" y="4362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本次申请的支持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42950" y="4895850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4819650"/>
            <a:ext cx="6362700" cy="2690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1–2 个真实项目试点，并提供典型上库流程样本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742950" y="5212556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5136356"/>
            <a:ext cx="6362700" cy="2690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 CodeHub、流水线、消息回调的联调接口与测试环境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42950" y="5529263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5453063"/>
            <a:ext cx="6362700" cy="2690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明确安全、权限、插件签名和数据边界责任人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742950" y="5845969"/>
            <a:ext cx="76200" cy="76200"/>
          </a:xfrm>
          <a:prstGeom prst="ellipse">
            <a:avLst/>
          </a:prstGeom>
          <a:solidFill>
            <a:srgbClr val="C7000B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5769769"/>
            <a:ext cx="6362700" cy="2690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按试点指标复盘，达标后再扩展 Agent 与团队范围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753350" y="4438650"/>
            <a:ext cx="3714750" cy="1638300"/>
          </a:xfrm>
          <a:prstGeom prst="roundRect">
            <a:avLst>
              <a:gd name="adj" fmla="val 11628"/>
            </a:avLst>
          </a:prstGeom>
          <a:solidFill>
            <a:srgbClr val="C7000B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96250" y="47625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我们不是再做一个 Agent；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96250" y="521970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650"/>
          </a:bodyPr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我们在建设一套让 Agent、流程与人协同交付的 IDE。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5955</Words>
  <Application>WPS 演示</Application>
  <PresentationFormat>Converted Presentation</PresentationFormat>
  <Paragraphs>975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王龙安</cp:lastModifiedBy>
  <cp:revision>1</cp:revision>
  <dcterms:created xsi:type="dcterms:W3CDTF">2026-07-22T02:04:08Z</dcterms:created>
  <dcterms:modified xsi:type="dcterms:W3CDTF">2026-07-22T02:04:08Z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2052-12.1.0.27458</vt:lpwstr>
  </property>
  <property fmtid="{D5CDD505-2E9C-101B-9397-08002B2CF9AE}" pid="3" name="ICV">
    <vt:lpwstr>5E2808FDB68149738EC5E71B156D7353_12</vt:lpwstr>
  </property>
</Properties>
</file>